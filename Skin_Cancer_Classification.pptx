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1A0A0"/>
          </a:solidFill>
          <a:ln/>
        </p:spPr>
      </p:sp>
      <p:sp>
        <p:nvSpPr>
          <p:cNvPr id="3" name="Shape 1"/>
          <p:cNvSpPr/>
          <p:nvPr/>
        </p:nvSpPr>
        <p:spPr>
          <a:xfrm>
            <a:off x="6858000" y="-731520"/>
            <a:ext cx="3200400" cy="3200400"/>
          </a:xfrm>
          <a:prstGeom prst="ellipse">
            <a:avLst/>
          </a:prstGeom>
          <a:solidFill>
            <a:srgbClr val="1B4F72">
              <a:alpha val="40000"/>
            </a:srgbClr>
          </a:solidFill>
          <a:ln w="12700">
            <a:solidFill>
              <a:srgbClr val="1B4F72">
                <a:alpha val="40000"/>
              </a:srgbClr>
            </a:solidFill>
            <a:prstDash val="solid"/>
          </a:ln>
        </p:spPr>
      </p:sp>
      <p:sp>
        <p:nvSpPr>
          <p:cNvPr id="4" name="Shape 2"/>
          <p:cNvSpPr/>
          <p:nvPr/>
        </p:nvSpPr>
        <p:spPr>
          <a:xfrm>
            <a:off x="7772400" y="2926080"/>
            <a:ext cx="2011680" cy="2011680"/>
          </a:xfrm>
          <a:prstGeom prst="ellipse">
            <a:avLst/>
          </a:prstGeom>
          <a:solidFill>
            <a:srgbClr val="21A0A0">
              <a:alpha val="30000"/>
            </a:srgbClr>
          </a:solidFill>
          <a:ln w="12700">
            <a:solidFill>
              <a:srgbClr val="21A0A0">
                <a:alpha val="30000"/>
              </a:srgbClr>
            </a:solidFill>
            <a:prstDash val="solid"/>
          </a:ln>
        </p:spPr>
      </p:sp>
      <p:sp>
        <p:nvSpPr>
          <p:cNvPr id="5" name="Text 3"/>
          <p:cNvSpPr/>
          <p:nvPr/>
        </p:nvSpPr>
        <p:spPr>
          <a:xfrm>
            <a:off x="640080" y="457200"/>
            <a:ext cx="914400" cy="914400"/>
          </a:xfrm>
          <a:prstGeom prst="rect">
            <a:avLst/>
          </a:prstGeom>
          <a:noFill/>
          <a:ln/>
        </p:spPr>
        <p:txBody>
          <a:bodyPr wrap="square" rtlCol="0" anchor="ctr"/>
          <a:lstStyle/>
          <a:p>
            <a:pPr algn="l" indent="0" marL="0">
              <a:buNone/>
            </a:pPr>
            <a:r>
              <a:rPr lang="en-US" sz="4000" dirty="0">
                <a:solidFill>
                  <a:srgbClr val="000000"/>
                </a:solidFill>
              </a:rPr>
              <a:t>🔬</a:t>
            </a:r>
            <a:endParaRPr lang="en-US" sz="4000" dirty="0"/>
          </a:p>
        </p:txBody>
      </p:sp>
      <p:sp>
        <p:nvSpPr>
          <p:cNvPr id="6" name="Text 4"/>
          <p:cNvSpPr/>
          <p:nvPr/>
        </p:nvSpPr>
        <p:spPr>
          <a:xfrm>
            <a:off x="640080" y="1188720"/>
            <a:ext cx="7772400" cy="822960"/>
          </a:xfrm>
          <a:prstGeom prst="rect">
            <a:avLst/>
          </a:prstGeom>
          <a:noFill/>
          <a:ln/>
        </p:spPr>
        <p:txBody>
          <a:bodyPr wrap="square" lIns="0" tIns="0" rIns="0" bIns="0"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Skin Cancer</a:t>
            </a:r>
            <a:endParaRPr lang="en-US" sz="4600" dirty="0"/>
          </a:p>
        </p:txBody>
      </p:sp>
      <p:sp>
        <p:nvSpPr>
          <p:cNvPr id="7" name="Text 5"/>
          <p:cNvSpPr/>
          <p:nvPr/>
        </p:nvSpPr>
        <p:spPr>
          <a:xfrm>
            <a:off x="640080" y="1874520"/>
            <a:ext cx="7772400" cy="822960"/>
          </a:xfrm>
          <a:prstGeom prst="rect">
            <a:avLst/>
          </a:prstGeom>
          <a:noFill/>
          <a:ln/>
        </p:spPr>
        <p:txBody>
          <a:bodyPr wrap="square" lIns="0" tIns="0" rIns="0" bIns="0" rtlCol="0" anchor="ctr"/>
          <a:lstStyle/>
          <a:p>
            <a:pPr algn="l" indent="0" marL="0">
              <a:buNone/>
            </a:pPr>
            <a:r>
              <a:rPr lang="en-US" sz="4600" b="1" dirty="0">
                <a:solidFill>
                  <a:srgbClr val="21A0A0"/>
                </a:solidFill>
                <a:latin typeface="Calibri" pitchFamily="34" charset="0"/>
                <a:ea typeface="Calibri" pitchFamily="34" charset="-122"/>
                <a:cs typeface="Calibri" pitchFamily="34" charset="-120"/>
              </a:rPr>
              <a:t>Classification System</a:t>
            </a:r>
            <a:endParaRPr lang="en-US" sz="4600" dirty="0"/>
          </a:p>
        </p:txBody>
      </p:sp>
      <p:sp>
        <p:nvSpPr>
          <p:cNvPr id="8" name="Text 6"/>
          <p:cNvSpPr/>
          <p:nvPr/>
        </p:nvSpPr>
        <p:spPr>
          <a:xfrm>
            <a:off x="640080" y="2743200"/>
            <a:ext cx="6400800" cy="457200"/>
          </a:xfrm>
          <a:prstGeom prst="rect">
            <a:avLst/>
          </a:prstGeom>
          <a:noFill/>
          <a:ln/>
        </p:spPr>
        <p:txBody>
          <a:bodyPr wrap="square" lIns="0" tIns="0" rIns="0" bIns="0" rtlCol="0" anchor="ctr"/>
          <a:lstStyle/>
          <a:p>
            <a:pPr algn="l" indent="0" marL="0">
              <a:buNone/>
            </a:pPr>
            <a:r>
              <a:rPr lang="en-US" sz="1800" dirty="0">
                <a:solidFill>
                  <a:srgbClr val="A8C8D8"/>
                </a:solidFill>
                <a:latin typeface="Calibri" pitchFamily="34" charset="0"/>
                <a:ea typeface="Calibri" pitchFamily="34" charset="-122"/>
                <a:cs typeface="Calibri" pitchFamily="34" charset="-120"/>
              </a:rPr>
              <a:t>AI-Powered Dermatoscopic Image Analysis</a:t>
            </a:r>
            <a:endParaRPr lang="en-US" sz="1800" dirty="0"/>
          </a:p>
        </p:txBody>
      </p:sp>
      <p:sp>
        <p:nvSpPr>
          <p:cNvPr id="9" name="Text 7"/>
          <p:cNvSpPr/>
          <p:nvPr/>
        </p:nvSpPr>
        <p:spPr>
          <a:xfrm>
            <a:off x="640080" y="3246120"/>
            <a:ext cx="6400800" cy="365760"/>
          </a:xfrm>
          <a:prstGeom prst="rect">
            <a:avLst/>
          </a:prstGeom>
          <a:noFill/>
          <a:ln/>
        </p:spPr>
        <p:txBody>
          <a:bodyPr wrap="square" lIns="0" tIns="0" rIns="0" bIns="0" rtlCol="0" anchor="ctr"/>
          <a:lstStyle/>
          <a:p>
            <a:pPr algn="l" indent="0" marL="0">
              <a:buNone/>
            </a:pPr>
            <a:r>
              <a:rPr lang="en-US" sz="1300" i="1" dirty="0">
                <a:solidFill>
                  <a:srgbClr val="7A9BB5"/>
                </a:solidFill>
                <a:latin typeface="Calibri" pitchFamily="34" charset="0"/>
                <a:ea typeface="Calibri" pitchFamily="34" charset="-122"/>
                <a:cs typeface="Calibri" pitchFamily="34" charset="-120"/>
              </a:rPr>
              <a:t>Deep Learning · HAM10000 Dataset · 7 Lesion Classes</a:t>
            </a:r>
            <a:endParaRPr lang="en-US" sz="1300" dirty="0"/>
          </a:p>
        </p:txBody>
      </p:sp>
      <p:sp>
        <p:nvSpPr>
          <p:cNvPr id="10" name="Shape 8"/>
          <p:cNvSpPr/>
          <p:nvPr/>
        </p:nvSpPr>
        <p:spPr>
          <a:xfrm>
            <a:off x="320040" y="4663440"/>
            <a:ext cx="8823960" cy="480060"/>
          </a:xfrm>
          <a:prstGeom prst="rect">
            <a:avLst/>
          </a:prstGeom>
          <a:solidFill>
            <a:srgbClr val="1B4F72"/>
          </a:solidFill>
          <a:ln/>
        </p:spPr>
      </p:sp>
      <p:sp>
        <p:nvSpPr>
          <p:cNvPr id="11" name="Text 9"/>
          <p:cNvSpPr/>
          <p:nvPr/>
        </p:nvSpPr>
        <p:spPr>
          <a:xfrm>
            <a:off x="640080" y="4663440"/>
            <a:ext cx="8229600" cy="480060"/>
          </a:xfrm>
          <a:prstGeom prst="rect">
            <a:avLst/>
          </a:prstGeom>
          <a:noFill/>
          <a:ln/>
        </p:spPr>
        <p:txBody>
          <a:bodyPr wrap="square" lIns="0" tIns="0" rIns="0" bIns="0" rtlCol="0" anchor="ctr"/>
          <a:lstStyle/>
          <a:p>
            <a:pPr algn="l" indent="0" marL="0">
              <a:buNone/>
            </a:pPr>
            <a:r>
              <a:rPr lang="en-US" sz="1200" dirty="0">
                <a:solidFill>
                  <a:srgbClr val="A8C8D8"/>
                </a:solidFill>
                <a:latin typeface="Calibri" pitchFamily="34" charset="0"/>
                <a:ea typeface="Calibri" pitchFamily="34" charset="-122"/>
                <a:cs typeface="Calibri" pitchFamily="34" charset="-120"/>
              </a:rPr>
              <a:t>Computer Vision  |  TensorFlow / Keras  |  Streamlit 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365760" y="1143000"/>
            <a:ext cx="2606040" cy="16459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188720"/>
            <a:ext cx="2606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365760" y="1664208"/>
            <a:ext cx="2606040" cy="502920"/>
          </a:xfrm>
          <a:prstGeom prst="rect">
            <a:avLst/>
          </a:prstGeom>
          <a:noFill/>
          <a:ln/>
        </p:spPr>
        <p:txBody>
          <a:bodyPr wrap="square" lIns="0" tIns="0" rIns="0" bIns="0" rtlCol="0" anchor="ctr"/>
          <a:lstStyle/>
          <a:p>
            <a:pPr algn="ctr" indent="0" marL="0">
              <a:buNone/>
            </a:pPr>
            <a:r>
              <a:rPr lang="en-US" sz="2600" b="1" dirty="0">
                <a:solidFill>
                  <a:srgbClr val="21A0A0"/>
                </a:solidFill>
                <a:latin typeface="Calibri" pitchFamily="34" charset="0"/>
                <a:ea typeface="Calibri" pitchFamily="34" charset="-122"/>
                <a:cs typeface="Calibri" pitchFamily="34" charset="-120"/>
              </a:rPr>
              <a:t>10,015</a:t>
            </a:r>
            <a:endParaRPr lang="en-US" sz="2600" dirty="0"/>
          </a:p>
        </p:txBody>
      </p:sp>
      <p:sp>
        <p:nvSpPr>
          <p:cNvPr id="7" name="Text 5"/>
          <p:cNvSpPr/>
          <p:nvPr/>
        </p:nvSpPr>
        <p:spPr>
          <a:xfrm>
            <a:off x="365760" y="2148840"/>
            <a:ext cx="260604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Dermatoscopic Images</a:t>
            </a:r>
            <a:endParaRPr lang="en-US" sz="1100" dirty="0"/>
          </a:p>
        </p:txBody>
      </p:sp>
      <p:sp>
        <p:nvSpPr>
          <p:cNvPr id="8" name="Text 6"/>
          <p:cNvSpPr/>
          <p:nvPr/>
        </p:nvSpPr>
        <p:spPr>
          <a:xfrm>
            <a:off x="365760" y="2450592"/>
            <a:ext cx="26060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28×28 RGB pixel format</a:t>
            </a:r>
            <a:endParaRPr lang="en-US" sz="1000" dirty="0"/>
          </a:p>
        </p:txBody>
      </p:sp>
      <p:sp>
        <p:nvSpPr>
          <p:cNvPr id="9" name="Shape 7"/>
          <p:cNvSpPr/>
          <p:nvPr/>
        </p:nvSpPr>
        <p:spPr>
          <a:xfrm>
            <a:off x="3200400" y="1143000"/>
            <a:ext cx="2606040" cy="16459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200400" y="1188720"/>
            <a:ext cx="2606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3200400" y="1664208"/>
            <a:ext cx="2606040" cy="502920"/>
          </a:xfrm>
          <a:prstGeom prst="rect">
            <a:avLst/>
          </a:prstGeom>
          <a:noFill/>
          <a:ln/>
        </p:spPr>
        <p:txBody>
          <a:bodyPr wrap="square" lIns="0" tIns="0" rIns="0" bIns="0" rtlCol="0" anchor="ctr"/>
          <a:lstStyle/>
          <a:p>
            <a:pPr algn="ctr" indent="0" marL="0">
              <a:buNone/>
            </a:pPr>
            <a:r>
              <a:rPr lang="en-US" sz="2600" b="1" dirty="0">
                <a:solidFill>
                  <a:srgbClr val="21A0A0"/>
                </a:solidFill>
                <a:latin typeface="Calibri" pitchFamily="34" charset="0"/>
                <a:ea typeface="Calibri" pitchFamily="34" charset="-122"/>
                <a:cs typeface="Calibri" pitchFamily="34" charset="-120"/>
              </a:rPr>
              <a:t>7</a:t>
            </a:r>
            <a:endParaRPr lang="en-US" sz="2600" dirty="0"/>
          </a:p>
        </p:txBody>
      </p:sp>
      <p:sp>
        <p:nvSpPr>
          <p:cNvPr id="12" name="Text 10"/>
          <p:cNvSpPr/>
          <p:nvPr/>
        </p:nvSpPr>
        <p:spPr>
          <a:xfrm>
            <a:off x="3200400" y="2148840"/>
            <a:ext cx="260604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Lesion Categories</a:t>
            </a:r>
            <a:endParaRPr lang="en-US" sz="1100" dirty="0"/>
          </a:p>
        </p:txBody>
      </p:sp>
      <p:sp>
        <p:nvSpPr>
          <p:cNvPr id="13" name="Text 11"/>
          <p:cNvSpPr/>
          <p:nvPr/>
        </p:nvSpPr>
        <p:spPr>
          <a:xfrm>
            <a:off x="3200400" y="2450592"/>
            <a:ext cx="26060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Malignant to Benign</a:t>
            </a:r>
            <a:endParaRPr lang="en-US" sz="1000" dirty="0"/>
          </a:p>
        </p:txBody>
      </p:sp>
      <p:sp>
        <p:nvSpPr>
          <p:cNvPr id="14" name="Shape 12"/>
          <p:cNvSpPr/>
          <p:nvPr/>
        </p:nvSpPr>
        <p:spPr>
          <a:xfrm>
            <a:off x="6035040" y="1143000"/>
            <a:ext cx="2606040" cy="16459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6035040" y="1188720"/>
            <a:ext cx="260604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6035040" y="1664208"/>
            <a:ext cx="2606040" cy="502920"/>
          </a:xfrm>
          <a:prstGeom prst="rect">
            <a:avLst/>
          </a:prstGeom>
          <a:noFill/>
          <a:ln/>
        </p:spPr>
        <p:txBody>
          <a:bodyPr wrap="square" lIns="0" tIns="0" rIns="0" bIns="0" rtlCol="0" anchor="ctr"/>
          <a:lstStyle/>
          <a:p>
            <a:pPr algn="ctr" indent="0" marL="0">
              <a:buNone/>
            </a:pPr>
            <a:r>
              <a:rPr lang="en-US" sz="2600" b="1" dirty="0">
                <a:solidFill>
                  <a:srgbClr val="21A0A0"/>
                </a:solidFill>
                <a:latin typeface="Calibri" pitchFamily="34" charset="0"/>
                <a:ea typeface="Calibri" pitchFamily="34" charset="-122"/>
                <a:cs typeface="Calibri" pitchFamily="34" charset="-120"/>
              </a:rPr>
              <a:t>CNN</a:t>
            </a:r>
            <a:endParaRPr lang="en-US" sz="2600" dirty="0"/>
          </a:p>
        </p:txBody>
      </p:sp>
      <p:sp>
        <p:nvSpPr>
          <p:cNvPr id="17" name="Text 15"/>
          <p:cNvSpPr/>
          <p:nvPr/>
        </p:nvSpPr>
        <p:spPr>
          <a:xfrm>
            <a:off x="6035040" y="2148840"/>
            <a:ext cx="260604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Deep Neural Network</a:t>
            </a:r>
            <a:endParaRPr lang="en-US" sz="1100" dirty="0"/>
          </a:p>
        </p:txBody>
      </p:sp>
      <p:sp>
        <p:nvSpPr>
          <p:cNvPr id="18" name="Text 16"/>
          <p:cNvSpPr/>
          <p:nvPr/>
        </p:nvSpPr>
        <p:spPr>
          <a:xfrm>
            <a:off x="6035040" y="2450592"/>
            <a:ext cx="26060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3 conv blocks + dropout</a:t>
            </a:r>
            <a:endParaRPr lang="en-US" sz="1000" dirty="0"/>
          </a:p>
        </p:txBody>
      </p:sp>
      <p:sp>
        <p:nvSpPr>
          <p:cNvPr id="19" name="Text 17"/>
          <p:cNvSpPr/>
          <p:nvPr/>
        </p:nvSpPr>
        <p:spPr>
          <a:xfrm>
            <a:off x="457200" y="3017520"/>
            <a:ext cx="8229600" cy="365760"/>
          </a:xfrm>
          <a:prstGeom prst="rect">
            <a:avLst/>
          </a:prstGeom>
          <a:noFill/>
          <a:ln/>
        </p:spPr>
        <p:txBody>
          <a:bodyPr wrap="square" lIns="0" tIns="0" rIns="0" bIns="0" rtlCol="0" anchor="ctr"/>
          <a:lstStyle/>
          <a:p>
            <a:pPr indent="0" marL="0">
              <a:buNone/>
            </a:pPr>
            <a:r>
              <a:rPr lang="en-US" sz="1600" b="1" dirty="0">
                <a:solidFill>
                  <a:srgbClr val="1B4F72"/>
                </a:solidFill>
                <a:latin typeface="Calibri" pitchFamily="34" charset="0"/>
                <a:ea typeface="Calibri" pitchFamily="34" charset="-122"/>
                <a:cs typeface="Calibri" pitchFamily="34" charset="-120"/>
              </a:rPr>
              <a:t>Project Goal</a:t>
            </a:r>
            <a:endParaRPr lang="en-US" sz="1600" dirty="0"/>
          </a:p>
        </p:txBody>
      </p:sp>
      <p:sp>
        <p:nvSpPr>
          <p:cNvPr id="20" name="Text 18"/>
          <p:cNvSpPr/>
          <p:nvPr/>
        </p:nvSpPr>
        <p:spPr>
          <a:xfrm>
            <a:off x="457200" y="3401568"/>
            <a:ext cx="8229600" cy="1097280"/>
          </a:xfrm>
          <a:prstGeom prst="rect">
            <a:avLst/>
          </a:prstGeom>
          <a:noFill/>
          <a:ln/>
        </p:spPr>
        <p:txBody>
          <a:bodyPr wrap="square"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Build an end-to-end system that classifies skin lesions from dermatoscopic images into seven clinically relevant categories, from benign nevi to malignant melanoma. The pipeline covers data preparation, CNN training, model explainability via Grad-CAM, and a real-time Streamlit web application for clinical-style inference.</a:t>
            </a:r>
            <a:endParaRPr lang="en-US" sz="1300" dirty="0"/>
          </a:p>
        </p:txBody>
      </p:sp>
      <p:sp>
        <p:nvSpPr>
          <p:cNvPr id="21" name="Shape 19"/>
          <p:cNvSpPr/>
          <p:nvPr/>
        </p:nvSpPr>
        <p:spPr>
          <a:xfrm>
            <a:off x="0" y="4846320"/>
            <a:ext cx="9144000" cy="297180"/>
          </a:xfrm>
          <a:prstGeom prst="rect">
            <a:avLst/>
          </a:prstGeom>
          <a:solidFill>
            <a:srgbClr val="E8F4F8"/>
          </a:solidFill>
          <a:ln/>
        </p:spPr>
      </p:sp>
      <p:sp>
        <p:nvSpPr>
          <p:cNvPr id="22" name="Text 20"/>
          <p:cNvSpPr/>
          <p:nvPr/>
        </p:nvSpPr>
        <p:spPr>
          <a:xfrm>
            <a:off x="457200" y="4846320"/>
            <a:ext cx="8229600" cy="29718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  For educational purposes only — not a substitute for professional medical diagnosis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HAM10000 Dataset &amp; Lesion Classes</a:t>
            </a:r>
            <a:endParaRPr lang="en-US" sz="2600" dirty="0"/>
          </a:p>
        </p:txBody>
      </p:sp>
      <p:sp>
        <p:nvSpPr>
          <p:cNvPr id="4" name="Shape 2"/>
          <p:cNvSpPr/>
          <p:nvPr/>
        </p:nvSpPr>
        <p:spPr>
          <a:xfrm>
            <a:off x="365760" y="1097280"/>
            <a:ext cx="1005840" cy="347472"/>
          </a:xfrm>
          <a:prstGeom prst="rect">
            <a:avLst/>
          </a:prstGeom>
          <a:solidFill>
            <a:srgbClr val="1B4F72"/>
          </a:solidFill>
          <a:ln/>
        </p:spPr>
      </p:sp>
      <p:sp>
        <p:nvSpPr>
          <p:cNvPr id="5" name="Text 3"/>
          <p:cNvSpPr/>
          <p:nvPr/>
        </p:nvSpPr>
        <p:spPr>
          <a:xfrm>
            <a:off x="365760" y="1097280"/>
            <a:ext cx="10058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Code</a:t>
            </a:r>
            <a:endParaRPr lang="en-US" sz="1200" dirty="0"/>
          </a:p>
        </p:txBody>
      </p:sp>
      <p:sp>
        <p:nvSpPr>
          <p:cNvPr id="6" name="Shape 4"/>
          <p:cNvSpPr/>
          <p:nvPr/>
        </p:nvSpPr>
        <p:spPr>
          <a:xfrm>
            <a:off x="1371600" y="1097280"/>
            <a:ext cx="2743200" cy="347472"/>
          </a:xfrm>
          <a:prstGeom prst="rect">
            <a:avLst/>
          </a:prstGeom>
          <a:solidFill>
            <a:srgbClr val="1B4F72"/>
          </a:solidFill>
          <a:ln/>
        </p:spPr>
      </p:sp>
      <p:sp>
        <p:nvSpPr>
          <p:cNvPr id="7" name="Text 5"/>
          <p:cNvSpPr/>
          <p:nvPr/>
        </p:nvSpPr>
        <p:spPr>
          <a:xfrm>
            <a:off x="1371600" y="1097280"/>
            <a:ext cx="27432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Full Name</a:t>
            </a:r>
            <a:endParaRPr lang="en-US" sz="1200" dirty="0"/>
          </a:p>
        </p:txBody>
      </p:sp>
      <p:sp>
        <p:nvSpPr>
          <p:cNvPr id="8" name="Shape 6"/>
          <p:cNvSpPr/>
          <p:nvPr/>
        </p:nvSpPr>
        <p:spPr>
          <a:xfrm>
            <a:off x="4114800" y="1097280"/>
            <a:ext cx="1645920" cy="347472"/>
          </a:xfrm>
          <a:prstGeom prst="rect">
            <a:avLst/>
          </a:prstGeom>
          <a:solidFill>
            <a:srgbClr val="1B4F72"/>
          </a:solidFill>
          <a:ln/>
        </p:spPr>
      </p:sp>
      <p:sp>
        <p:nvSpPr>
          <p:cNvPr id="9" name="Text 7"/>
          <p:cNvSpPr/>
          <p:nvPr/>
        </p:nvSpPr>
        <p:spPr>
          <a:xfrm>
            <a:off x="4114800" y="1097280"/>
            <a:ext cx="1645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Nature</a:t>
            </a:r>
            <a:endParaRPr lang="en-US" sz="1200" dirty="0"/>
          </a:p>
        </p:txBody>
      </p:sp>
      <p:sp>
        <p:nvSpPr>
          <p:cNvPr id="10" name="Shape 8"/>
          <p:cNvSpPr/>
          <p:nvPr/>
        </p:nvSpPr>
        <p:spPr>
          <a:xfrm>
            <a:off x="5760720" y="1097280"/>
            <a:ext cx="1005840" cy="347472"/>
          </a:xfrm>
          <a:prstGeom prst="rect">
            <a:avLst/>
          </a:prstGeom>
          <a:solidFill>
            <a:srgbClr val="1B4F72"/>
          </a:solidFill>
          <a:ln/>
        </p:spPr>
      </p:sp>
      <p:sp>
        <p:nvSpPr>
          <p:cNvPr id="11" name="Text 9"/>
          <p:cNvSpPr/>
          <p:nvPr/>
        </p:nvSpPr>
        <p:spPr>
          <a:xfrm>
            <a:off x="5760720" y="1097280"/>
            <a:ext cx="10058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Count ~</a:t>
            </a:r>
            <a:endParaRPr lang="en-US" sz="1200" dirty="0"/>
          </a:p>
        </p:txBody>
      </p:sp>
      <p:sp>
        <p:nvSpPr>
          <p:cNvPr id="12" name="Shape 10"/>
          <p:cNvSpPr/>
          <p:nvPr/>
        </p:nvSpPr>
        <p:spPr>
          <a:xfrm>
            <a:off x="365760" y="1444752"/>
            <a:ext cx="1005840" cy="402336"/>
          </a:xfrm>
          <a:prstGeom prst="rect">
            <a:avLst/>
          </a:prstGeom>
          <a:solidFill>
            <a:srgbClr val="FFFFFF"/>
          </a:solidFill>
          <a:ln w="12700">
            <a:solidFill>
              <a:srgbClr val="E2E8F0"/>
            </a:solidFill>
            <a:prstDash val="solid"/>
          </a:ln>
        </p:spPr>
      </p:sp>
      <p:sp>
        <p:nvSpPr>
          <p:cNvPr id="13" name="Text 11"/>
          <p:cNvSpPr/>
          <p:nvPr/>
        </p:nvSpPr>
        <p:spPr>
          <a:xfrm>
            <a:off x="365760" y="1444752"/>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akiec</a:t>
            </a:r>
            <a:endParaRPr lang="en-US" sz="1200" dirty="0"/>
          </a:p>
        </p:txBody>
      </p:sp>
      <p:sp>
        <p:nvSpPr>
          <p:cNvPr id="14" name="Shape 12"/>
          <p:cNvSpPr/>
          <p:nvPr/>
        </p:nvSpPr>
        <p:spPr>
          <a:xfrm>
            <a:off x="1371600" y="1444752"/>
            <a:ext cx="2743200" cy="402336"/>
          </a:xfrm>
          <a:prstGeom prst="rect">
            <a:avLst/>
          </a:prstGeom>
          <a:solidFill>
            <a:srgbClr val="FFFFFF"/>
          </a:solidFill>
          <a:ln w="12700">
            <a:solidFill>
              <a:srgbClr val="E2E8F0"/>
            </a:solidFill>
            <a:prstDash val="solid"/>
          </a:ln>
        </p:spPr>
      </p:sp>
      <p:sp>
        <p:nvSpPr>
          <p:cNvPr id="15" name="Text 13"/>
          <p:cNvSpPr/>
          <p:nvPr/>
        </p:nvSpPr>
        <p:spPr>
          <a:xfrm>
            <a:off x="1371600" y="1444752"/>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Actinic Keratoses</a:t>
            </a:r>
            <a:endParaRPr lang="en-US" sz="1200" dirty="0"/>
          </a:p>
        </p:txBody>
      </p:sp>
      <p:sp>
        <p:nvSpPr>
          <p:cNvPr id="16" name="Shape 14"/>
          <p:cNvSpPr/>
          <p:nvPr/>
        </p:nvSpPr>
        <p:spPr>
          <a:xfrm>
            <a:off x="4114800" y="1444752"/>
            <a:ext cx="1645920" cy="402336"/>
          </a:xfrm>
          <a:prstGeom prst="rect">
            <a:avLst/>
          </a:prstGeom>
          <a:solidFill>
            <a:srgbClr val="FFFFFF"/>
          </a:solidFill>
          <a:ln w="12700">
            <a:solidFill>
              <a:srgbClr val="E2E8F0"/>
            </a:solidFill>
            <a:prstDash val="solid"/>
          </a:ln>
        </p:spPr>
      </p:sp>
      <p:sp>
        <p:nvSpPr>
          <p:cNvPr id="17" name="Text 15"/>
          <p:cNvSpPr/>
          <p:nvPr/>
        </p:nvSpPr>
        <p:spPr>
          <a:xfrm>
            <a:off x="4114800" y="1444752"/>
            <a:ext cx="1645920" cy="402336"/>
          </a:xfrm>
          <a:prstGeom prst="rect">
            <a:avLst/>
          </a:prstGeom>
          <a:noFill/>
          <a:ln/>
        </p:spPr>
        <p:txBody>
          <a:bodyPr wrap="square" lIns="0" tIns="0" rIns="0" bIns="0" rtlCol="0" anchor="ctr"/>
          <a:lstStyle/>
          <a:p>
            <a:pPr algn="ctr" indent="0" marL="0">
              <a:buNone/>
            </a:pPr>
            <a:r>
              <a:rPr lang="en-US" sz="1200" dirty="0">
                <a:solidFill>
                  <a:srgbClr val="E67E22"/>
                </a:solidFill>
                <a:latin typeface="Calibri" pitchFamily="34" charset="0"/>
                <a:ea typeface="Calibri" pitchFamily="34" charset="-122"/>
                <a:cs typeface="Calibri" pitchFamily="34" charset="-120"/>
              </a:rPr>
              <a:t>Pre-malignant</a:t>
            </a:r>
            <a:endParaRPr lang="en-US" sz="1200" dirty="0"/>
          </a:p>
        </p:txBody>
      </p:sp>
      <p:sp>
        <p:nvSpPr>
          <p:cNvPr id="18" name="Shape 16"/>
          <p:cNvSpPr/>
          <p:nvPr/>
        </p:nvSpPr>
        <p:spPr>
          <a:xfrm>
            <a:off x="5760720" y="1444752"/>
            <a:ext cx="1005840" cy="402336"/>
          </a:xfrm>
          <a:prstGeom prst="rect">
            <a:avLst/>
          </a:prstGeom>
          <a:solidFill>
            <a:srgbClr val="FFFFFF"/>
          </a:solidFill>
          <a:ln w="12700">
            <a:solidFill>
              <a:srgbClr val="E2E8F0"/>
            </a:solidFill>
            <a:prstDash val="solid"/>
          </a:ln>
        </p:spPr>
      </p:sp>
      <p:sp>
        <p:nvSpPr>
          <p:cNvPr id="19" name="Text 17"/>
          <p:cNvSpPr/>
          <p:nvPr/>
        </p:nvSpPr>
        <p:spPr>
          <a:xfrm>
            <a:off x="5760720" y="1444752"/>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327</a:t>
            </a:r>
            <a:endParaRPr lang="en-US" sz="1200" dirty="0"/>
          </a:p>
        </p:txBody>
      </p:sp>
      <p:sp>
        <p:nvSpPr>
          <p:cNvPr id="20" name="Shape 18"/>
          <p:cNvSpPr/>
          <p:nvPr/>
        </p:nvSpPr>
        <p:spPr>
          <a:xfrm>
            <a:off x="365760" y="1865376"/>
            <a:ext cx="1005840" cy="402336"/>
          </a:xfrm>
          <a:prstGeom prst="rect">
            <a:avLst/>
          </a:prstGeom>
          <a:solidFill>
            <a:srgbClr val="F0F8FF"/>
          </a:solidFill>
          <a:ln w="12700">
            <a:solidFill>
              <a:srgbClr val="E2E8F0"/>
            </a:solidFill>
            <a:prstDash val="solid"/>
          </a:ln>
        </p:spPr>
      </p:sp>
      <p:sp>
        <p:nvSpPr>
          <p:cNvPr id="21" name="Text 19"/>
          <p:cNvSpPr/>
          <p:nvPr/>
        </p:nvSpPr>
        <p:spPr>
          <a:xfrm>
            <a:off x="365760" y="1865376"/>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bcc</a:t>
            </a:r>
            <a:endParaRPr lang="en-US" sz="1200" dirty="0"/>
          </a:p>
        </p:txBody>
      </p:sp>
      <p:sp>
        <p:nvSpPr>
          <p:cNvPr id="22" name="Shape 20"/>
          <p:cNvSpPr/>
          <p:nvPr/>
        </p:nvSpPr>
        <p:spPr>
          <a:xfrm>
            <a:off x="1371600" y="1865376"/>
            <a:ext cx="2743200" cy="402336"/>
          </a:xfrm>
          <a:prstGeom prst="rect">
            <a:avLst/>
          </a:prstGeom>
          <a:solidFill>
            <a:srgbClr val="F0F8FF"/>
          </a:solidFill>
          <a:ln w="12700">
            <a:solidFill>
              <a:srgbClr val="E2E8F0"/>
            </a:solidFill>
            <a:prstDash val="solid"/>
          </a:ln>
        </p:spPr>
      </p:sp>
      <p:sp>
        <p:nvSpPr>
          <p:cNvPr id="23" name="Text 21"/>
          <p:cNvSpPr/>
          <p:nvPr/>
        </p:nvSpPr>
        <p:spPr>
          <a:xfrm>
            <a:off x="1371600" y="1865376"/>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Basal Cell Carcinoma</a:t>
            </a:r>
            <a:endParaRPr lang="en-US" sz="1200" dirty="0"/>
          </a:p>
        </p:txBody>
      </p:sp>
      <p:sp>
        <p:nvSpPr>
          <p:cNvPr id="24" name="Shape 22"/>
          <p:cNvSpPr/>
          <p:nvPr/>
        </p:nvSpPr>
        <p:spPr>
          <a:xfrm>
            <a:off x="4114800" y="1865376"/>
            <a:ext cx="1645920" cy="402336"/>
          </a:xfrm>
          <a:prstGeom prst="rect">
            <a:avLst/>
          </a:prstGeom>
          <a:solidFill>
            <a:srgbClr val="F0F8FF"/>
          </a:solidFill>
          <a:ln w="12700">
            <a:solidFill>
              <a:srgbClr val="E2E8F0"/>
            </a:solidFill>
            <a:prstDash val="solid"/>
          </a:ln>
        </p:spPr>
      </p:sp>
      <p:sp>
        <p:nvSpPr>
          <p:cNvPr id="25" name="Text 23"/>
          <p:cNvSpPr/>
          <p:nvPr/>
        </p:nvSpPr>
        <p:spPr>
          <a:xfrm>
            <a:off x="4114800" y="1865376"/>
            <a:ext cx="1645920" cy="402336"/>
          </a:xfrm>
          <a:prstGeom prst="rect">
            <a:avLst/>
          </a:prstGeom>
          <a:noFill/>
          <a:ln/>
        </p:spPr>
        <p:txBody>
          <a:bodyPr wrap="square" lIns="0" tIns="0" rIns="0" bIns="0" rtlCol="0" anchor="ctr"/>
          <a:lstStyle/>
          <a:p>
            <a:pPr algn="ctr" indent="0" marL="0">
              <a:buNone/>
            </a:pPr>
            <a:r>
              <a:rPr lang="en-US" sz="1200" dirty="0">
                <a:solidFill>
                  <a:srgbClr val="C0392B"/>
                </a:solidFill>
                <a:latin typeface="Calibri" pitchFamily="34" charset="0"/>
                <a:ea typeface="Calibri" pitchFamily="34" charset="-122"/>
                <a:cs typeface="Calibri" pitchFamily="34" charset="-120"/>
              </a:rPr>
              <a:t>Malignant</a:t>
            </a:r>
            <a:endParaRPr lang="en-US" sz="1200" dirty="0"/>
          </a:p>
        </p:txBody>
      </p:sp>
      <p:sp>
        <p:nvSpPr>
          <p:cNvPr id="26" name="Shape 24"/>
          <p:cNvSpPr/>
          <p:nvPr/>
        </p:nvSpPr>
        <p:spPr>
          <a:xfrm>
            <a:off x="5760720" y="1865376"/>
            <a:ext cx="1005840" cy="402336"/>
          </a:xfrm>
          <a:prstGeom prst="rect">
            <a:avLst/>
          </a:prstGeom>
          <a:solidFill>
            <a:srgbClr val="F0F8FF"/>
          </a:solidFill>
          <a:ln w="12700">
            <a:solidFill>
              <a:srgbClr val="E2E8F0"/>
            </a:solidFill>
            <a:prstDash val="solid"/>
          </a:ln>
        </p:spPr>
      </p:sp>
      <p:sp>
        <p:nvSpPr>
          <p:cNvPr id="27" name="Text 25"/>
          <p:cNvSpPr/>
          <p:nvPr/>
        </p:nvSpPr>
        <p:spPr>
          <a:xfrm>
            <a:off x="5760720" y="1865376"/>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514</a:t>
            </a:r>
            <a:endParaRPr lang="en-US" sz="1200" dirty="0"/>
          </a:p>
        </p:txBody>
      </p:sp>
      <p:sp>
        <p:nvSpPr>
          <p:cNvPr id="28" name="Shape 26"/>
          <p:cNvSpPr/>
          <p:nvPr/>
        </p:nvSpPr>
        <p:spPr>
          <a:xfrm>
            <a:off x="365760" y="2286000"/>
            <a:ext cx="1005840" cy="402336"/>
          </a:xfrm>
          <a:prstGeom prst="rect">
            <a:avLst/>
          </a:prstGeom>
          <a:solidFill>
            <a:srgbClr val="FFFFFF"/>
          </a:solidFill>
          <a:ln w="12700">
            <a:solidFill>
              <a:srgbClr val="E2E8F0"/>
            </a:solidFill>
            <a:prstDash val="solid"/>
          </a:ln>
        </p:spPr>
      </p:sp>
      <p:sp>
        <p:nvSpPr>
          <p:cNvPr id="29" name="Text 27"/>
          <p:cNvSpPr/>
          <p:nvPr/>
        </p:nvSpPr>
        <p:spPr>
          <a:xfrm>
            <a:off x="365760" y="2286000"/>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bkl</a:t>
            </a:r>
            <a:endParaRPr lang="en-US" sz="1200" dirty="0"/>
          </a:p>
        </p:txBody>
      </p:sp>
      <p:sp>
        <p:nvSpPr>
          <p:cNvPr id="30" name="Shape 28"/>
          <p:cNvSpPr/>
          <p:nvPr/>
        </p:nvSpPr>
        <p:spPr>
          <a:xfrm>
            <a:off x="1371600" y="2286000"/>
            <a:ext cx="2743200" cy="402336"/>
          </a:xfrm>
          <a:prstGeom prst="rect">
            <a:avLst/>
          </a:prstGeom>
          <a:solidFill>
            <a:srgbClr val="FFFFFF"/>
          </a:solidFill>
          <a:ln w="12700">
            <a:solidFill>
              <a:srgbClr val="E2E8F0"/>
            </a:solidFill>
            <a:prstDash val="solid"/>
          </a:ln>
        </p:spPr>
      </p:sp>
      <p:sp>
        <p:nvSpPr>
          <p:cNvPr id="31" name="Text 29"/>
          <p:cNvSpPr/>
          <p:nvPr/>
        </p:nvSpPr>
        <p:spPr>
          <a:xfrm>
            <a:off x="1371600" y="2286000"/>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Benign Keratosis</a:t>
            </a:r>
            <a:endParaRPr lang="en-US" sz="1200" dirty="0"/>
          </a:p>
        </p:txBody>
      </p:sp>
      <p:sp>
        <p:nvSpPr>
          <p:cNvPr id="32" name="Shape 30"/>
          <p:cNvSpPr/>
          <p:nvPr/>
        </p:nvSpPr>
        <p:spPr>
          <a:xfrm>
            <a:off x="4114800" y="2286000"/>
            <a:ext cx="1645920" cy="402336"/>
          </a:xfrm>
          <a:prstGeom prst="rect">
            <a:avLst/>
          </a:prstGeom>
          <a:solidFill>
            <a:srgbClr val="FFFFFF"/>
          </a:solidFill>
          <a:ln w="12700">
            <a:solidFill>
              <a:srgbClr val="E2E8F0"/>
            </a:solidFill>
            <a:prstDash val="solid"/>
          </a:ln>
        </p:spPr>
      </p:sp>
      <p:sp>
        <p:nvSpPr>
          <p:cNvPr id="33" name="Text 31"/>
          <p:cNvSpPr/>
          <p:nvPr/>
        </p:nvSpPr>
        <p:spPr>
          <a:xfrm>
            <a:off x="4114800" y="2286000"/>
            <a:ext cx="1645920" cy="402336"/>
          </a:xfrm>
          <a:prstGeom prst="rect">
            <a:avLst/>
          </a:prstGeom>
          <a:noFill/>
          <a:ln/>
        </p:spPr>
        <p:txBody>
          <a:bodyPr wrap="square" lIns="0" tIns="0" rIns="0" bIns="0" rtlCol="0" anchor="ctr"/>
          <a:lstStyle/>
          <a:p>
            <a:pPr algn="ctr" indent="0" marL="0">
              <a:buNone/>
            </a:pPr>
            <a:r>
              <a:rPr lang="en-US" sz="1200" dirty="0">
                <a:solidFill>
                  <a:srgbClr val="27AE60"/>
                </a:solidFill>
                <a:latin typeface="Calibri" pitchFamily="34" charset="0"/>
                <a:ea typeface="Calibri" pitchFamily="34" charset="-122"/>
                <a:cs typeface="Calibri" pitchFamily="34" charset="-120"/>
              </a:rPr>
              <a:t>Benign</a:t>
            </a:r>
            <a:endParaRPr lang="en-US" sz="1200" dirty="0"/>
          </a:p>
        </p:txBody>
      </p:sp>
      <p:sp>
        <p:nvSpPr>
          <p:cNvPr id="34" name="Shape 32"/>
          <p:cNvSpPr/>
          <p:nvPr/>
        </p:nvSpPr>
        <p:spPr>
          <a:xfrm>
            <a:off x="5760720" y="2286000"/>
            <a:ext cx="1005840" cy="402336"/>
          </a:xfrm>
          <a:prstGeom prst="rect">
            <a:avLst/>
          </a:prstGeom>
          <a:solidFill>
            <a:srgbClr val="FFFFFF"/>
          </a:solidFill>
          <a:ln w="12700">
            <a:solidFill>
              <a:srgbClr val="E2E8F0"/>
            </a:solidFill>
            <a:prstDash val="solid"/>
          </a:ln>
        </p:spPr>
      </p:sp>
      <p:sp>
        <p:nvSpPr>
          <p:cNvPr id="35" name="Text 33"/>
          <p:cNvSpPr/>
          <p:nvPr/>
        </p:nvSpPr>
        <p:spPr>
          <a:xfrm>
            <a:off x="5760720" y="2286000"/>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1,099</a:t>
            </a:r>
            <a:endParaRPr lang="en-US" sz="1200" dirty="0"/>
          </a:p>
        </p:txBody>
      </p:sp>
      <p:sp>
        <p:nvSpPr>
          <p:cNvPr id="36" name="Shape 34"/>
          <p:cNvSpPr/>
          <p:nvPr/>
        </p:nvSpPr>
        <p:spPr>
          <a:xfrm>
            <a:off x="365760" y="2706624"/>
            <a:ext cx="1005840" cy="402336"/>
          </a:xfrm>
          <a:prstGeom prst="rect">
            <a:avLst/>
          </a:prstGeom>
          <a:solidFill>
            <a:srgbClr val="F0F8FF"/>
          </a:solidFill>
          <a:ln w="12700">
            <a:solidFill>
              <a:srgbClr val="E2E8F0"/>
            </a:solidFill>
            <a:prstDash val="solid"/>
          </a:ln>
        </p:spPr>
      </p:sp>
      <p:sp>
        <p:nvSpPr>
          <p:cNvPr id="37" name="Text 35"/>
          <p:cNvSpPr/>
          <p:nvPr/>
        </p:nvSpPr>
        <p:spPr>
          <a:xfrm>
            <a:off x="365760" y="2706624"/>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df</a:t>
            </a:r>
            <a:endParaRPr lang="en-US" sz="1200" dirty="0"/>
          </a:p>
        </p:txBody>
      </p:sp>
      <p:sp>
        <p:nvSpPr>
          <p:cNvPr id="38" name="Shape 36"/>
          <p:cNvSpPr/>
          <p:nvPr/>
        </p:nvSpPr>
        <p:spPr>
          <a:xfrm>
            <a:off x="1371600" y="2706624"/>
            <a:ext cx="2743200" cy="402336"/>
          </a:xfrm>
          <a:prstGeom prst="rect">
            <a:avLst/>
          </a:prstGeom>
          <a:solidFill>
            <a:srgbClr val="F0F8FF"/>
          </a:solidFill>
          <a:ln w="12700">
            <a:solidFill>
              <a:srgbClr val="E2E8F0"/>
            </a:solidFill>
            <a:prstDash val="solid"/>
          </a:ln>
        </p:spPr>
      </p:sp>
      <p:sp>
        <p:nvSpPr>
          <p:cNvPr id="39" name="Text 37"/>
          <p:cNvSpPr/>
          <p:nvPr/>
        </p:nvSpPr>
        <p:spPr>
          <a:xfrm>
            <a:off x="1371600" y="2706624"/>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Dermatofibroma</a:t>
            </a:r>
            <a:endParaRPr lang="en-US" sz="1200" dirty="0"/>
          </a:p>
        </p:txBody>
      </p:sp>
      <p:sp>
        <p:nvSpPr>
          <p:cNvPr id="40" name="Shape 38"/>
          <p:cNvSpPr/>
          <p:nvPr/>
        </p:nvSpPr>
        <p:spPr>
          <a:xfrm>
            <a:off x="4114800" y="2706624"/>
            <a:ext cx="1645920" cy="402336"/>
          </a:xfrm>
          <a:prstGeom prst="rect">
            <a:avLst/>
          </a:prstGeom>
          <a:solidFill>
            <a:srgbClr val="F0F8FF"/>
          </a:solidFill>
          <a:ln w="12700">
            <a:solidFill>
              <a:srgbClr val="E2E8F0"/>
            </a:solidFill>
            <a:prstDash val="solid"/>
          </a:ln>
        </p:spPr>
      </p:sp>
      <p:sp>
        <p:nvSpPr>
          <p:cNvPr id="41" name="Text 39"/>
          <p:cNvSpPr/>
          <p:nvPr/>
        </p:nvSpPr>
        <p:spPr>
          <a:xfrm>
            <a:off x="4114800" y="2706624"/>
            <a:ext cx="1645920" cy="402336"/>
          </a:xfrm>
          <a:prstGeom prst="rect">
            <a:avLst/>
          </a:prstGeom>
          <a:noFill/>
          <a:ln/>
        </p:spPr>
        <p:txBody>
          <a:bodyPr wrap="square" lIns="0" tIns="0" rIns="0" bIns="0" rtlCol="0" anchor="ctr"/>
          <a:lstStyle/>
          <a:p>
            <a:pPr algn="ctr" indent="0" marL="0">
              <a:buNone/>
            </a:pPr>
            <a:r>
              <a:rPr lang="en-US" sz="1200" dirty="0">
                <a:solidFill>
                  <a:srgbClr val="27AE60"/>
                </a:solidFill>
                <a:latin typeface="Calibri" pitchFamily="34" charset="0"/>
                <a:ea typeface="Calibri" pitchFamily="34" charset="-122"/>
                <a:cs typeface="Calibri" pitchFamily="34" charset="-120"/>
              </a:rPr>
              <a:t>Benign</a:t>
            </a:r>
            <a:endParaRPr lang="en-US" sz="1200" dirty="0"/>
          </a:p>
        </p:txBody>
      </p:sp>
      <p:sp>
        <p:nvSpPr>
          <p:cNvPr id="42" name="Shape 40"/>
          <p:cNvSpPr/>
          <p:nvPr/>
        </p:nvSpPr>
        <p:spPr>
          <a:xfrm>
            <a:off x="5760720" y="2706624"/>
            <a:ext cx="1005840" cy="402336"/>
          </a:xfrm>
          <a:prstGeom prst="rect">
            <a:avLst/>
          </a:prstGeom>
          <a:solidFill>
            <a:srgbClr val="F0F8FF"/>
          </a:solidFill>
          <a:ln w="12700">
            <a:solidFill>
              <a:srgbClr val="E2E8F0"/>
            </a:solidFill>
            <a:prstDash val="solid"/>
          </a:ln>
        </p:spPr>
      </p:sp>
      <p:sp>
        <p:nvSpPr>
          <p:cNvPr id="43" name="Text 41"/>
          <p:cNvSpPr/>
          <p:nvPr/>
        </p:nvSpPr>
        <p:spPr>
          <a:xfrm>
            <a:off x="5760720" y="2706624"/>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115</a:t>
            </a:r>
            <a:endParaRPr lang="en-US" sz="1200" dirty="0"/>
          </a:p>
        </p:txBody>
      </p:sp>
      <p:sp>
        <p:nvSpPr>
          <p:cNvPr id="44" name="Shape 42"/>
          <p:cNvSpPr/>
          <p:nvPr/>
        </p:nvSpPr>
        <p:spPr>
          <a:xfrm>
            <a:off x="365760" y="3127248"/>
            <a:ext cx="1005840" cy="402336"/>
          </a:xfrm>
          <a:prstGeom prst="rect">
            <a:avLst/>
          </a:prstGeom>
          <a:solidFill>
            <a:srgbClr val="FFFFFF"/>
          </a:solidFill>
          <a:ln w="12700">
            <a:solidFill>
              <a:srgbClr val="E2E8F0"/>
            </a:solidFill>
            <a:prstDash val="solid"/>
          </a:ln>
        </p:spPr>
      </p:sp>
      <p:sp>
        <p:nvSpPr>
          <p:cNvPr id="45" name="Text 43"/>
          <p:cNvSpPr/>
          <p:nvPr/>
        </p:nvSpPr>
        <p:spPr>
          <a:xfrm>
            <a:off x="365760" y="3127248"/>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mel</a:t>
            </a:r>
            <a:endParaRPr lang="en-US" sz="1200" dirty="0"/>
          </a:p>
        </p:txBody>
      </p:sp>
      <p:sp>
        <p:nvSpPr>
          <p:cNvPr id="46" name="Shape 44"/>
          <p:cNvSpPr/>
          <p:nvPr/>
        </p:nvSpPr>
        <p:spPr>
          <a:xfrm>
            <a:off x="1371600" y="3127248"/>
            <a:ext cx="2743200" cy="402336"/>
          </a:xfrm>
          <a:prstGeom prst="rect">
            <a:avLst/>
          </a:prstGeom>
          <a:solidFill>
            <a:srgbClr val="FFFFFF"/>
          </a:solidFill>
          <a:ln w="12700">
            <a:solidFill>
              <a:srgbClr val="E2E8F0"/>
            </a:solidFill>
            <a:prstDash val="solid"/>
          </a:ln>
        </p:spPr>
      </p:sp>
      <p:sp>
        <p:nvSpPr>
          <p:cNvPr id="47" name="Text 45"/>
          <p:cNvSpPr/>
          <p:nvPr/>
        </p:nvSpPr>
        <p:spPr>
          <a:xfrm>
            <a:off x="1371600" y="3127248"/>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Melanoma</a:t>
            </a:r>
            <a:endParaRPr lang="en-US" sz="1200" dirty="0"/>
          </a:p>
        </p:txBody>
      </p:sp>
      <p:sp>
        <p:nvSpPr>
          <p:cNvPr id="48" name="Shape 46"/>
          <p:cNvSpPr/>
          <p:nvPr/>
        </p:nvSpPr>
        <p:spPr>
          <a:xfrm>
            <a:off x="4114800" y="3127248"/>
            <a:ext cx="1645920" cy="402336"/>
          </a:xfrm>
          <a:prstGeom prst="rect">
            <a:avLst/>
          </a:prstGeom>
          <a:solidFill>
            <a:srgbClr val="FFFFFF"/>
          </a:solidFill>
          <a:ln w="12700">
            <a:solidFill>
              <a:srgbClr val="E2E8F0"/>
            </a:solidFill>
            <a:prstDash val="solid"/>
          </a:ln>
        </p:spPr>
      </p:sp>
      <p:sp>
        <p:nvSpPr>
          <p:cNvPr id="49" name="Text 47"/>
          <p:cNvSpPr/>
          <p:nvPr/>
        </p:nvSpPr>
        <p:spPr>
          <a:xfrm>
            <a:off x="4114800" y="3127248"/>
            <a:ext cx="1645920" cy="402336"/>
          </a:xfrm>
          <a:prstGeom prst="rect">
            <a:avLst/>
          </a:prstGeom>
          <a:noFill/>
          <a:ln/>
        </p:spPr>
        <p:txBody>
          <a:bodyPr wrap="square" lIns="0" tIns="0" rIns="0" bIns="0" rtlCol="0" anchor="ctr"/>
          <a:lstStyle/>
          <a:p>
            <a:pPr algn="ctr" indent="0" marL="0">
              <a:buNone/>
            </a:pPr>
            <a:r>
              <a:rPr lang="en-US" sz="1200" dirty="0">
                <a:solidFill>
                  <a:srgbClr val="C0392B"/>
                </a:solidFill>
                <a:latin typeface="Calibri" pitchFamily="34" charset="0"/>
                <a:ea typeface="Calibri" pitchFamily="34" charset="-122"/>
                <a:cs typeface="Calibri" pitchFamily="34" charset="-120"/>
              </a:rPr>
              <a:t>Malignant</a:t>
            </a:r>
            <a:endParaRPr lang="en-US" sz="1200" dirty="0"/>
          </a:p>
        </p:txBody>
      </p:sp>
      <p:sp>
        <p:nvSpPr>
          <p:cNvPr id="50" name="Shape 48"/>
          <p:cNvSpPr/>
          <p:nvPr/>
        </p:nvSpPr>
        <p:spPr>
          <a:xfrm>
            <a:off x="5760720" y="3127248"/>
            <a:ext cx="1005840" cy="402336"/>
          </a:xfrm>
          <a:prstGeom prst="rect">
            <a:avLst/>
          </a:prstGeom>
          <a:solidFill>
            <a:srgbClr val="FFFFFF"/>
          </a:solidFill>
          <a:ln w="12700">
            <a:solidFill>
              <a:srgbClr val="E2E8F0"/>
            </a:solidFill>
            <a:prstDash val="solid"/>
          </a:ln>
        </p:spPr>
      </p:sp>
      <p:sp>
        <p:nvSpPr>
          <p:cNvPr id="51" name="Text 49"/>
          <p:cNvSpPr/>
          <p:nvPr/>
        </p:nvSpPr>
        <p:spPr>
          <a:xfrm>
            <a:off x="5760720" y="3127248"/>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1,113</a:t>
            </a:r>
            <a:endParaRPr lang="en-US" sz="1200" dirty="0"/>
          </a:p>
        </p:txBody>
      </p:sp>
      <p:sp>
        <p:nvSpPr>
          <p:cNvPr id="52" name="Shape 50"/>
          <p:cNvSpPr/>
          <p:nvPr/>
        </p:nvSpPr>
        <p:spPr>
          <a:xfrm>
            <a:off x="365760" y="3547872"/>
            <a:ext cx="1005840" cy="402336"/>
          </a:xfrm>
          <a:prstGeom prst="rect">
            <a:avLst/>
          </a:prstGeom>
          <a:solidFill>
            <a:srgbClr val="F0F8FF"/>
          </a:solidFill>
          <a:ln w="12700">
            <a:solidFill>
              <a:srgbClr val="E2E8F0"/>
            </a:solidFill>
            <a:prstDash val="solid"/>
          </a:ln>
        </p:spPr>
      </p:sp>
      <p:sp>
        <p:nvSpPr>
          <p:cNvPr id="53" name="Text 51"/>
          <p:cNvSpPr/>
          <p:nvPr/>
        </p:nvSpPr>
        <p:spPr>
          <a:xfrm>
            <a:off x="365760" y="3547872"/>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nv</a:t>
            </a:r>
            <a:endParaRPr lang="en-US" sz="1200" dirty="0"/>
          </a:p>
        </p:txBody>
      </p:sp>
      <p:sp>
        <p:nvSpPr>
          <p:cNvPr id="54" name="Shape 52"/>
          <p:cNvSpPr/>
          <p:nvPr/>
        </p:nvSpPr>
        <p:spPr>
          <a:xfrm>
            <a:off x="1371600" y="3547872"/>
            <a:ext cx="2743200" cy="402336"/>
          </a:xfrm>
          <a:prstGeom prst="rect">
            <a:avLst/>
          </a:prstGeom>
          <a:solidFill>
            <a:srgbClr val="F0F8FF"/>
          </a:solidFill>
          <a:ln w="12700">
            <a:solidFill>
              <a:srgbClr val="E2E8F0"/>
            </a:solidFill>
            <a:prstDash val="solid"/>
          </a:ln>
        </p:spPr>
      </p:sp>
      <p:sp>
        <p:nvSpPr>
          <p:cNvPr id="55" name="Text 53"/>
          <p:cNvSpPr/>
          <p:nvPr/>
        </p:nvSpPr>
        <p:spPr>
          <a:xfrm>
            <a:off x="1371600" y="3547872"/>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Melanocytic Nevi</a:t>
            </a:r>
            <a:endParaRPr lang="en-US" sz="1200" dirty="0"/>
          </a:p>
        </p:txBody>
      </p:sp>
      <p:sp>
        <p:nvSpPr>
          <p:cNvPr id="56" name="Shape 54"/>
          <p:cNvSpPr/>
          <p:nvPr/>
        </p:nvSpPr>
        <p:spPr>
          <a:xfrm>
            <a:off x="4114800" y="3547872"/>
            <a:ext cx="1645920" cy="402336"/>
          </a:xfrm>
          <a:prstGeom prst="rect">
            <a:avLst/>
          </a:prstGeom>
          <a:solidFill>
            <a:srgbClr val="F0F8FF"/>
          </a:solidFill>
          <a:ln w="12700">
            <a:solidFill>
              <a:srgbClr val="E2E8F0"/>
            </a:solidFill>
            <a:prstDash val="solid"/>
          </a:ln>
        </p:spPr>
      </p:sp>
      <p:sp>
        <p:nvSpPr>
          <p:cNvPr id="57" name="Text 55"/>
          <p:cNvSpPr/>
          <p:nvPr/>
        </p:nvSpPr>
        <p:spPr>
          <a:xfrm>
            <a:off x="4114800" y="3547872"/>
            <a:ext cx="1645920" cy="402336"/>
          </a:xfrm>
          <a:prstGeom prst="rect">
            <a:avLst/>
          </a:prstGeom>
          <a:noFill/>
          <a:ln/>
        </p:spPr>
        <p:txBody>
          <a:bodyPr wrap="square" lIns="0" tIns="0" rIns="0" bIns="0" rtlCol="0" anchor="ctr"/>
          <a:lstStyle/>
          <a:p>
            <a:pPr algn="ctr" indent="0" marL="0">
              <a:buNone/>
            </a:pPr>
            <a:r>
              <a:rPr lang="en-US" sz="1200" dirty="0">
                <a:solidFill>
                  <a:srgbClr val="27AE60"/>
                </a:solidFill>
                <a:latin typeface="Calibri" pitchFamily="34" charset="0"/>
                <a:ea typeface="Calibri" pitchFamily="34" charset="-122"/>
                <a:cs typeface="Calibri" pitchFamily="34" charset="-120"/>
              </a:rPr>
              <a:t>Benign</a:t>
            </a:r>
            <a:endParaRPr lang="en-US" sz="1200" dirty="0"/>
          </a:p>
        </p:txBody>
      </p:sp>
      <p:sp>
        <p:nvSpPr>
          <p:cNvPr id="58" name="Shape 56"/>
          <p:cNvSpPr/>
          <p:nvPr/>
        </p:nvSpPr>
        <p:spPr>
          <a:xfrm>
            <a:off x="5760720" y="3547872"/>
            <a:ext cx="1005840" cy="402336"/>
          </a:xfrm>
          <a:prstGeom prst="rect">
            <a:avLst/>
          </a:prstGeom>
          <a:solidFill>
            <a:srgbClr val="F0F8FF"/>
          </a:solidFill>
          <a:ln w="12700">
            <a:solidFill>
              <a:srgbClr val="E2E8F0"/>
            </a:solidFill>
            <a:prstDash val="solid"/>
          </a:ln>
        </p:spPr>
      </p:sp>
      <p:sp>
        <p:nvSpPr>
          <p:cNvPr id="59" name="Text 57"/>
          <p:cNvSpPr/>
          <p:nvPr/>
        </p:nvSpPr>
        <p:spPr>
          <a:xfrm>
            <a:off x="5760720" y="3547872"/>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6,705</a:t>
            </a:r>
            <a:endParaRPr lang="en-US" sz="1200" dirty="0"/>
          </a:p>
        </p:txBody>
      </p:sp>
      <p:sp>
        <p:nvSpPr>
          <p:cNvPr id="60" name="Shape 58"/>
          <p:cNvSpPr/>
          <p:nvPr/>
        </p:nvSpPr>
        <p:spPr>
          <a:xfrm>
            <a:off x="365760" y="3968496"/>
            <a:ext cx="1005840" cy="402336"/>
          </a:xfrm>
          <a:prstGeom prst="rect">
            <a:avLst/>
          </a:prstGeom>
          <a:solidFill>
            <a:srgbClr val="FFFFFF"/>
          </a:solidFill>
          <a:ln w="12700">
            <a:solidFill>
              <a:srgbClr val="E2E8F0"/>
            </a:solidFill>
            <a:prstDash val="solid"/>
          </a:ln>
        </p:spPr>
      </p:sp>
      <p:sp>
        <p:nvSpPr>
          <p:cNvPr id="61" name="Text 59"/>
          <p:cNvSpPr/>
          <p:nvPr/>
        </p:nvSpPr>
        <p:spPr>
          <a:xfrm>
            <a:off x="365760" y="3968496"/>
            <a:ext cx="1005840" cy="402336"/>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vasc</a:t>
            </a:r>
            <a:endParaRPr lang="en-US" sz="1200" dirty="0"/>
          </a:p>
        </p:txBody>
      </p:sp>
      <p:sp>
        <p:nvSpPr>
          <p:cNvPr id="62" name="Shape 60"/>
          <p:cNvSpPr/>
          <p:nvPr/>
        </p:nvSpPr>
        <p:spPr>
          <a:xfrm>
            <a:off x="1371600" y="3968496"/>
            <a:ext cx="2743200" cy="402336"/>
          </a:xfrm>
          <a:prstGeom prst="rect">
            <a:avLst/>
          </a:prstGeom>
          <a:solidFill>
            <a:srgbClr val="FFFFFF"/>
          </a:solidFill>
          <a:ln w="12700">
            <a:solidFill>
              <a:srgbClr val="E2E8F0"/>
            </a:solidFill>
            <a:prstDash val="solid"/>
          </a:ln>
        </p:spPr>
      </p:sp>
      <p:sp>
        <p:nvSpPr>
          <p:cNvPr id="63" name="Text 61"/>
          <p:cNvSpPr/>
          <p:nvPr/>
        </p:nvSpPr>
        <p:spPr>
          <a:xfrm>
            <a:off x="1371600" y="3968496"/>
            <a:ext cx="274320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Vascular Lesions</a:t>
            </a:r>
            <a:endParaRPr lang="en-US" sz="1200" dirty="0"/>
          </a:p>
        </p:txBody>
      </p:sp>
      <p:sp>
        <p:nvSpPr>
          <p:cNvPr id="64" name="Shape 62"/>
          <p:cNvSpPr/>
          <p:nvPr/>
        </p:nvSpPr>
        <p:spPr>
          <a:xfrm>
            <a:off x="4114800" y="3968496"/>
            <a:ext cx="1645920" cy="402336"/>
          </a:xfrm>
          <a:prstGeom prst="rect">
            <a:avLst/>
          </a:prstGeom>
          <a:solidFill>
            <a:srgbClr val="FFFFFF"/>
          </a:solidFill>
          <a:ln w="12700">
            <a:solidFill>
              <a:srgbClr val="E2E8F0"/>
            </a:solidFill>
            <a:prstDash val="solid"/>
          </a:ln>
        </p:spPr>
      </p:sp>
      <p:sp>
        <p:nvSpPr>
          <p:cNvPr id="65" name="Text 63"/>
          <p:cNvSpPr/>
          <p:nvPr/>
        </p:nvSpPr>
        <p:spPr>
          <a:xfrm>
            <a:off x="4114800" y="3968496"/>
            <a:ext cx="1645920" cy="402336"/>
          </a:xfrm>
          <a:prstGeom prst="rect">
            <a:avLst/>
          </a:prstGeom>
          <a:noFill/>
          <a:ln/>
        </p:spPr>
        <p:txBody>
          <a:bodyPr wrap="square" lIns="0" tIns="0" rIns="0" bIns="0" rtlCol="0" anchor="ctr"/>
          <a:lstStyle/>
          <a:p>
            <a:pPr algn="ctr" indent="0" marL="0">
              <a:buNone/>
            </a:pPr>
            <a:r>
              <a:rPr lang="en-US" sz="1200" dirty="0">
                <a:solidFill>
                  <a:srgbClr val="27AE60"/>
                </a:solidFill>
                <a:latin typeface="Calibri" pitchFamily="34" charset="0"/>
                <a:ea typeface="Calibri" pitchFamily="34" charset="-122"/>
                <a:cs typeface="Calibri" pitchFamily="34" charset="-120"/>
              </a:rPr>
              <a:t>Benign</a:t>
            </a:r>
            <a:endParaRPr lang="en-US" sz="1200" dirty="0"/>
          </a:p>
        </p:txBody>
      </p:sp>
      <p:sp>
        <p:nvSpPr>
          <p:cNvPr id="66" name="Shape 64"/>
          <p:cNvSpPr/>
          <p:nvPr/>
        </p:nvSpPr>
        <p:spPr>
          <a:xfrm>
            <a:off x="5760720" y="3968496"/>
            <a:ext cx="1005840" cy="402336"/>
          </a:xfrm>
          <a:prstGeom prst="rect">
            <a:avLst/>
          </a:prstGeom>
          <a:solidFill>
            <a:srgbClr val="FFFFFF"/>
          </a:solidFill>
          <a:ln w="12700">
            <a:solidFill>
              <a:srgbClr val="E2E8F0"/>
            </a:solidFill>
            <a:prstDash val="solid"/>
          </a:ln>
        </p:spPr>
      </p:sp>
      <p:sp>
        <p:nvSpPr>
          <p:cNvPr id="67" name="Text 65"/>
          <p:cNvSpPr/>
          <p:nvPr/>
        </p:nvSpPr>
        <p:spPr>
          <a:xfrm>
            <a:off x="5760720" y="3968496"/>
            <a:ext cx="1005840" cy="402336"/>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142</a:t>
            </a:r>
            <a:endParaRPr lang="en-US" sz="1200" dirty="0"/>
          </a:p>
        </p:txBody>
      </p:sp>
      <p:sp>
        <p:nvSpPr>
          <p:cNvPr id="68" name="Shape 66"/>
          <p:cNvSpPr/>
          <p:nvPr/>
        </p:nvSpPr>
        <p:spPr>
          <a:xfrm>
            <a:off x="6949440" y="1097280"/>
            <a:ext cx="1920240" cy="310896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9" name="Text 67"/>
          <p:cNvSpPr/>
          <p:nvPr/>
        </p:nvSpPr>
        <p:spPr>
          <a:xfrm>
            <a:off x="6995160" y="1143000"/>
            <a:ext cx="1828800" cy="365760"/>
          </a:xfrm>
          <a:prstGeom prst="rect">
            <a:avLst/>
          </a:prstGeom>
          <a:noFill/>
          <a:ln/>
        </p:spPr>
        <p:txBody>
          <a:bodyPr wrap="square" rtlCol="0" anchor="ctr"/>
          <a:lstStyle/>
          <a:p>
            <a:pPr algn="ctr" indent="0" marL="0">
              <a:buNone/>
            </a:pPr>
            <a:r>
              <a:rPr lang="en-US" sz="1100" b="1" dirty="0">
                <a:solidFill>
                  <a:srgbClr val="1B4F72"/>
                </a:solidFill>
                <a:latin typeface="Calibri" pitchFamily="34" charset="0"/>
                <a:ea typeface="Calibri" pitchFamily="34" charset="-122"/>
                <a:cs typeface="Calibri" pitchFamily="34" charset="-120"/>
              </a:rPr>
              <a:t>Class Imbalance</a:t>
            </a:r>
            <a:endParaRPr lang="en-US" sz="1100" dirty="0"/>
          </a:p>
        </p:txBody>
      </p:sp>
      <p:sp>
        <p:nvSpPr>
          <p:cNvPr id="70" name="Text 68"/>
          <p:cNvSpPr/>
          <p:nvPr/>
        </p:nvSpPr>
        <p:spPr>
          <a:xfrm>
            <a:off x="6995160" y="1554480"/>
            <a:ext cx="1828800" cy="2468880"/>
          </a:xfrm>
          <a:prstGeom prst="rect">
            <a:avLst/>
          </a:prstGeom>
          <a:noFill/>
          <a:ln/>
        </p:spPr>
        <p:txBody>
          <a:bodyPr wrap="square" rtlCol="0" anchor="ctr"/>
          <a:lstStyle/>
          <a:p>
            <a:pPr algn="l" indent="0" marL="0">
              <a:buNone/>
            </a:pPr>
            <a:r>
              <a:rPr lang="en-US" sz="1000" dirty="0">
                <a:solidFill>
                  <a:srgbClr val="1E293B"/>
                </a:solidFill>
                <a:latin typeface="Calibri" pitchFamily="34" charset="0"/>
                <a:ea typeface="Calibri" pitchFamily="34" charset="-122"/>
                <a:cs typeface="Calibri" pitchFamily="34" charset="-120"/>
              </a:rPr>
              <a:t>nv (Nevi) dominates with ~67% of samples.</a:t>
            </a:r>
            <a:endParaRPr lang="en-US" sz="1000" dirty="0"/>
          </a:p>
          <a:p>
            <a:pPr algn="l" indent="0" marL="0">
              <a:buNone/>
            </a:pPr>
            <a:endParaRPr lang="en-US" sz="1000" dirty="0"/>
          </a:p>
          <a:p>
            <a:pPr algn="l" indent="0" marL="0">
              <a:buNone/>
            </a:pPr>
            <a:r>
              <a:rPr lang="en-US" sz="1000" dirty="0">
                <a:solidFill>
                  <a:srgbClr val="1E293B"/>
                </a:solidFill>
                <a:latin typeface="Calibri" pitchFamily="34" charset="0"/>
                <a:ea typeface="Calibri" pitchFamily="34" charset="-122"/>
                <a:cs typeface="Calibri" pitchFamily="34" charset="-120"/>
              </a:rPr>
              <a:t>Imbalance ratio:</a:t>
            </a:r>
            <a:endParaRPr lang="en-US" sz="1000" dirty="0"/>
          </a:p>
          <a:p>
            <a:pPr algn="l" indent="0" marL="0">
              <a:buNone/>
            </a:pPr>
            <a:r>
              <a:rPr lang="en-US" sz="1000" dirty="0">
                <a:solidFill>
                  <a:srgbClr val="1E293B"/>
                </a:solidFill>
                <a:latin typeface="Calibri" pitchFamily="34" charset="0"/>
                <a:ea typeface="Calibri" pitchFamily="34" charset="-122"/>
                <a:cs typeface="Calibri" pitchFamily="34" charset="-120"/>
              </a:rPr>
              <a:t>~58× (max/min)</a:t>
            </a:r>
            <a:endParaRPr lang="en-US" sz="1000" dirty="0"/>
          </a:p>
          <a:p>
            <a:pPr algn="l" indent="0" marL="0">
              <a:buNone/>
            </a:pPr>
            <a:endParaRPr lang="en-US" sz="1000" dirty="0"/>
          </a:p>
          <a:p>
            <a:pPr algn="l" indent="0" marL="0">
              <a:buNone/>
            </a:pPr>
            <a:r>
              <a:rPr lang="en-US" sz="1000" dirty="0">
                <a:solidFill>
                  <a:srgbClr val="1E293B"/>
                </a:solidFill>
                <a:latin typeface="Calibri" pitchFamily="34" charset="0"/>
                <a:ea typeface="Calibri" pitchFamily="34" charset="-122"/>
                <a:cs typeface="Calibri" pitchFamily="34" charset="-120"/>
              </a:rPr>
              <a:t>Handled via:</a:t>
            </a:r>
            <a:endParaRPr lang="en-US" sz="1000" dirty="0"/>
          </a:p>
          <a:p>
            <a:pPr algn="l" indent="0" marL="0">
              <a:buNone/>
            </a:pPr>
            <a:r>
              <a:rPr lang="en-US" sz="1000" dirty="0">
                <a:solidFill>
                  <a:srgbClr val="1E293B"/>
                </a:solidFill>
                <a:latin typeface="Calibri" pitchFamily="34" charset="0"/>
                <a:ea typeface="Calibri" pitchFamily="34" charset="-122"/>
                <a:cs typeface="Calibri" pitchFamily="34" charset="-120"/>
              </a:rPr>
              <a:t>• Class weights</a:t>
            </a:r>
            <a:endParaRPr lang="en-US" sz="1000" dirty="0"/>
          </a:p>
          <a:p>
            <a:pPr algn="l" indent="0" marL="0">
              <a:buNone/>
            </a:pPr>
            <a:r>
              <a:rPr lang="en-US" sz="1000" dirty="0">
                <a:solidFill>
                  <a:srgbClr val="1E293B"/>
                </a:solidFill>
                <a:latin typeface="Calibri" pitchFamily="34" charset="0"/>
                <a:ea typeface="Calibri" pitchFamily="34" charset="-122"/>
                <a:cs typeface="Calibri" pitchFamily="34" charset="-120"/>
              </a:rPr>
              <a:t>• Stratified split</a:t>
            </a:r>
            <a:endParaRPr lang="en-US" sz="1000" dirty="0"/>
          </a:p>
          <a:p>
            <a:pPr algn="l" indent="0" marL="0">
              <a:buNone/>
            </a:pPr>
            <a:r>
              <a:rPr lang="en-US" sz="1000" dirty="0">
                <a:solidFill>
                  <a:srgbClr val="1E293B"/>
                </a:solidFill>
                <a:latin typeface="Calibri" pitchFamily="34" charset="0"/>
                <a:ea typeface="Calibri" pitchFamily="34" charset="-122"/>
                <a:cs typeface="Calibri" pitchFamily="34" charset="-120"/>
              </a:rPr>
              <a:t>• Augmentation</a:t>
            </a:r>
            <a:endParaRPr lang="en-US" sz="1000" dirty="0"/>
          </a:p>
        </p:txBody>
      </p:sp>
      <p:sp>
        <p:nvSpPr>
          <p:cNvPr id="71" name="Shape 69"/>
          <p:cNvSpPr/>
          <p:nvPr/>
        </p:nvSpPr>
        <p:spPr>
          <a:xfrm>
            <a:off x="0" y="4846320"/>
            <a:ext cx="9144000" cy="297180"/>
          </a:xfrm>
          <a:prstGeom prst="rect">
            <a:avLst/>
          </a:prstGeom>
          <a:solidFill>
            <a:srgbClr val="E8F4F8"/>
          </a:solidFill>
          <a:ln/>
        </p:spPr>
      </p:sp>
      <p:sp>
        <p:nvSpPr>
          <p:cNvPr id="72" name="Text 70"/>
          <p:cNvSpPr/>
          <p:nvPr/>
        </p:nvSpPr>
        <p:spPr>
          <a:xfrm>
            <a:off x="457200" y="4846320"/>
            <a:ext cx="8229600" cy="29718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Source: HAM10000 · Kaggle: kmader/skin-cancer-mnist-ham10000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End-to-End ML Pipeline</a:t>
            </a:r>
            <a:endParaRPr lang="en-US" sz="2600" dirty="0"/>
          </a:p>
        </p:txBody>
      </p:sp>
      <p:sp>
        <p:nvSpPr>
          <p:cNvPr id="4" name="Shape 2"/>
          <p:cNvSpPr/>
          <p:nvPr/>
        </p:nvSpPr>
        <p:spPr>
          <a:xfrm>
            <a:off x="320040" y="105156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1051560"/>
            <a:ext cx="1965960" cy="347472"/>
          </a:xfrm>
          <a:prstGeom prst="rect">
            <a:avLst/>
          </a:prstGeom>
          <a:solidFill>
            <a:srgbClr val="1B4F72"/>
          </a:solidFill>
          <a:ln/>
        </p:spPr>
      </p:sp>
      <p:sp>
        <p:nvSpPr>
          <p:cNvPr id="6" name="Text 4"/>
          <p:cNvSpPr/>
          <p:nvPr/>
        </p:nvSpPr>
        <p:spPr>
          <a:xfrm>
            <a:off x="320040" y="105156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67512" y="105156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Loading</a:t>
            </a:r>
            <a:endParaRPr lang="en-US" sz="1100" dirty="0"/>
          </a:p>
        </p:txBody>
      </p:sp>
      <p:sp>
        <p:nvSpPr>
          <p:cNvPr id="8" name="Text 6"/>
          <p:cNvSpPr/>
          <p:nvPr/>
        </p:nvSpPr>
        <p:spPr>
          <a:xfrm>
            <a:off x="320040" y="143560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393192" y="187452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Kaggle API · CSV (28×28 RGB) · 10,015 images</a:t>
            </a:r>
            <a:endParaRPr lang="en-US" sz="950" dirty="0"/>
          </a:p>
        </p:txBody>
      </p:sp>
      <p:sp>
        <p:nvSpPr>
          <p:cNvPr id="10" name="Shape 8"/>
          <p:cNvSpPr/>
          <p:nvPr/>
        </p:nvSpPr>
        <p:spPr>
          <a:xfrm>
            <a:off x="2468880" y="105156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468880" y="1051560"/>
            <a:ext cx="1965960" cy="347472"/>
          </a:xfrm>
          <a:prstGeom prst="rect">
            <a:avLst/>
          </a:prstGeom>
          <a:solidFill>
            <a:srgbClr val="1B4F72"/>
          </a:solidFill>
          <a:ln/>
        </p:spPr>
      </p:sp>
      <p:sp>
        <p:nvSpPr>
          <p:cNvPr id="12" name="Text 10"/>
          <p:cNvSpPr/>
          <p:nvPr/>
        </p:nvSpPr>
        <p:spPr>
          <a:xfrm>
            <a:off x="2468880" y="105156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816352" y="105156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EDA</a:t>
            </a:r>
            <a:endParaRPr lang="en-US" sz="1100" dirty="0"/>
          </a:p>
        </p:txBody>
      </p:sp>
      <p:sp>
        <p:nvSpPr>
          <p:cNvPr id="14" name="Text 12"/>
          <p:cNvSpPr/>
          <p:nvPr/>
        </p:nvSpPr>
        <p:spPr>
          <a:xfrm>
            <a:off x="2468880" y="143560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2542032" y="187452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Class dist · pixel intensity · RGB channels · mean images</a:t>
            </a:r>
            <a:endParaRPr lang="en-US" sz="950" dirty="0"/>
          </a:p>
        </p:txBody>
      </p:sp>
      <p:sp>
        <p:nvSpPr>
          <p:cNvPr id="16" name="Shape 14"/>
          <p:cNvSpPr/>
          <p:nvPr/>
        </p:nvSpPr>
        <p:spPr>
          <a:xfrm>
            <a:off x="4617720" y="105156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17720" y="1051560"/>
            <a:ext cx="1965960" cy="347472"/>
          </a:xfrm>
          <a:prstGeom prst="rect">
            <a:avLst/>
          </a:prstGeom>
          <a:solidFill>
            <a:srgbClr val="1B4F72"/>
          </a:solidFill>
          <a:ln/>
        </p:spPr>
      </p:sp>
      <p:sp>
        <p:nvSpPr>
          <p:cNvPr id="18" name="Text 16"/>
          <p:cNvSpPr/>
          <p:nvPr/>
        </p:nvSpPr>
        <p:spPr>
          <a:xfrm>
            <a:off x="4617720" y="105156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4965192" y="105156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p:txBody>
      </p:sp>
      <p:sp>
        <p:nvSpPr>
          <p:cNvPr id="20" name="Text 18"/>
          <p:cNvSpPr/>
          <p:nvPr/>
        </p:nvSpPr>
        <p:spPr>
          <a:xfrm>
            <a:off x="4617720" y="143560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4690872" y="187452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Dedup · normalize /255 · stratified 80/20 split</a:t>
            </a:r>
            <a:endParaRPr lang="en-US" sz="950" dirty="0"/>
          </a:p>
        </p:txBody>
      </p:sp>
      <p:sp>
        <p:nvSpPr>
          <p:cNvPr id="22" name="Shape 20"/>
          <p:cNvSpPr/>
          <p:nvPr/>
        </p:nvSpPr>
        <p:spPr>
          <a:xfrm>
            <a:off x="6766560" y="105156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766560" y="1051560"/>
            <a:ext cx="1965960" cy="347472"/>
          </a:xfrm>
          <a:prstGeom prst="rect">
            <a:avLst/>
          </a:prstGeom>
          <a:solidFill>
            <a:srgbClr val="1B4F72"/>
          </a:solidFill>
          <a:ln/>
        </p:spPr>
      </p:sp>
      <p:sp>
        <p:nvSpPr>
          <p:cNvPr id="24" name="Text 22"/>
          <p:cNvSpPr/>
          <p:nvPr/>
        </p:nvSpPr>
        <p:spPr>
          <a:xfrm>
            <a:off x="6766560" y="105156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7114032" y="105156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Augmentation</a:t>
            </a:r>
            <a:endParaRPr lang="en-US" sz="1100" dirty="0"/>
          </a:p>
        </p:txBody>
      </p:sp>
      <p:sp>
        <p:nvSpPr>
          <p:cNvPr id="26" name="Text 24"/>
          <p:cNvSpPr/>
          <p:nvPr/>
        </p:nvSpPr>
        <p:spPr>
          <a:xfrm>
            <a:off x="6766560" y="143560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6839712" y="187452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Rotate · flip · shift · zoom · ImageDataGenerator</a:t>
            </a:r>
            <a:endParaRPr lang="en-US" sz="950" dirty="0"/>
          </a:p>
        </p:txBody>
      </p:sp>
      <p:sp>
        <p:nvSpPr>
          <p:cNvPr id="28" name="Shape 26"/>
          <p:cNvSpPr/>
          <p:nvPr/>
        </p:nvSpPr>
        <p:spPr>
          <a:xfrm>
            <a:off x="320040" y="297180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320040" y="2971800"/>
            <a:ext cx="1965960" cy="347472"/>
          </a:xfrm>
          <a:prstGeom prst="rect">
            <a:avLst/>
          </a:prstGeom>
          <a:solidFill>
            <a:srgbClr val="1B4F72"/>
          </a:solidFill>
          <a:ln/>
        </p:spPr>
      </p:sp>
      <p:sp>
        <p:nvSpPr>
          <p:cNvPr id="30" name="Text 28"/>
          <p:cNvSpPr/>
          <p:nvPr/>
        </p:nvSpPr>
        <p:spPr>
          <a:xfrm>
            <a:off x="320040" y="297180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667512" y="297180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 Training</a:t>
            </a:r>
            <a:endParaRPr lang="en-US" sz="1100" dirty="0"/>
          </a:p>
        </p:txBody>
      </p:sp>
      <p:sp>
        <p:nvSpPr>
          <p:cNvPr id="32" name="Text 30"/>
          <p:cNvSpPr/>
          <p:nvPr/>
        </p:nvSpPr>
        <p:spPr>
          <a:xfrm>
            <a:off x="320040" y="335584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3" name="Text 31"/>
          <p:cNvSpPr/>
          <p:nvPr/>
        </p:nvSpPr>
        <p:spPr>
          <a:xfrm>
            <a:off x="393192" y="379476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CNN 3-block · Adam lr=0.001 · class weights · 100 epochs</a:t>
            </a:r>
            <a:endParaRPr lang="en-US" sz="950" dirty="0"/>
          </a:p>
        </p:txBody>
      </p:sp>
      <p:sp>
        <p:nvSpPr>
          <p:cNvPr id="34" name="Shape 32"/>
          <p:cNvSpPr/>
          <p:nvPr/>
        </p:nvSpPr>
        <p:spPr>
          <a:xfrm>
            <a:off x="2468880" y="297180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2468880" y="2971800"/>
            <a:ext cx="1965960" cy="347472"/>
          </a:xfrm>
          <a:prstGeom prst="rect">
            <a:avLst/>
          </a:prstGeom>
          <a:solidFill>
            <a:srgbClr val="1B4F72"/>
          </a:solidFill>
          <a:ln/>
        </p:spPr>
      </p:sp>
      <p:sp>
        <p:nvSpPr>
          <p:cNvPr id="36" name="Text 34"/>
          <p:cNvSpPr/>
          <p:nvPr/>
        </p:nvSpPr>
        <p:spPr>
          <a:xfrm>
            <a:off x="2468880" y="297180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2816352" y="297180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p>
        </p:txBody>
      </p:sp>
      <p:sp>
        <p:nvSpPr>
          <p:cNvPr id="38" name="Text 36"/>
          <p:cNvSpPr/>
          <p:nvPr/>
        </p:nvSpPr>
        <p:spPr>
          <a:xfrm>
            <a:off x="2468880" y="335584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9" name="Text 37"/>
          <p:cNvSpPr/>
          <p:nvPr/>
        </p:nvSpPr>
        <p:spPr>
          <a:xfrm>
            <a:off x="2542032" y="379476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Accuracy · F1 · confusion matrix · ROC-AUC per class</a:t>
            </a:r>
            <a:endParaRPr lang="en-US" sz="950" dirty="0"/>
          </a:p>
        </p:txBody>
      </p:sp>
      <p:sp>
        <p:nvSpPr>
          <p:cNvPr id="40" name="Shape 38"/>
          <p:cNvSpPr/>
          <p:nvPr/>
        </p:nvSpPr>
        <p:spPr>
          <a:xfrm>
            <a:off x="4617720" y="297180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4617720" y="2971800"/>
            <a:ext cx="1965960" cy="347472"/>
          </a:xfrm>
          <a:prstGeom prst="rect">
            <a:avLst/>
          </a:prstGeom>
          <a:solidFill>
            <a:srgbClr val="1B4F72"/>
          </a:solidFill>
          <a:ln/>
        </p:spPr>
      </p:sp>
      <p:sp>
        <p:nvSpPr>
          <p:cNvPr id="42" name="Text 40"/>
          <p:cNvSpPr/>
          <p:nvPr/>
        </p:nvSpPr>
        <p:spPr>
          <a:xfrm>
            <a:off x="4617720" y="297180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7</a:t>
            </a:r>
            <a:endParaRPr lang="en-US" sz="1300" dirty="0"/>
          </a:p>
        </p:txBody>
      </p:sp>
      <p:sp>
        <p:nvSpPr>
          <p:cNvPr id="43" name="Text 41"/>
          <p:cNvSpPr/>
          <p:nvPr/>
        </p:nvSpPr>
        <p:spPr>
          <a:xfrm>
            <a:off x="4965192" y="297180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Grad-CAM</a:t>
            </a:r>
            <a:endParaRPr lang="en-US" sz="1100" dirty="0"/>
          </a:p>
        </p:txBody>
      </p:sp>
      <p:sp>
        <p:nvSpPr>
          <p:cNvPr id="44" name="Text 42"/>
          <p:cNvSpPr/>
          <p:nvPr/>
        </p:nvSpPr>
        <p:spPr>
          <a:xfrm>
            <a:off x="4617720" y="335584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5" name="Text 43"/>
          <p:cNvSpPr/>
          <p:nvPr/>
        </p:nvSpPr>
        <p:spPr>
          <a:xfrm>
            <a:off x="4690872" y="379476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Visual explainability — heatmaps on test samples</a:t>
            </a:r>
            <a:endParaRPr lang="en-US" sz="950" dirty="0"/>
          </a:p>
        </p:txBody>
      </p:sp>
      <p:sp>
        <p:nvSpPr>
          <p:cNvPr id="46" name="Shape 44"/>
          <p:cNvSpPr/>
          <p:nvPr/>
        </p:nvSpPr>
        <p:spPr>
          <a:xfrm>
            <a:off x="6766560" y="2971800"/>
            <a:ext cx="1965960" cy="169164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7" name="Shape 45"/>
          <p:cNvSpPr/>
          <p:nvPr/>
        </p:nvSpPr>
        <p:spPr>
          <a:xfrm>
            <a:off x="6766560" y="2971800"/>
            <a:ext cx="1965960" cy="347472"/>
          </a:xfrm>
          <a:prstGeom prst="rect">
            <a:avLst/>
          </a:prstGeom>
          <a:solidFill>
            <a:srgbClr val="1B4F72"/>
          </a:solidFill>
          <a:ln/>
        </p:spPr>
      </p:sp>
      <p:sp>
        <p:nvSpPr>
          <p:cNvPr id="48" name="Text 46"/>
          <p:cNvSpPr/>
          <p:nvPr/>
        </p:nvSpPr>
        <p:spPr>
          <a:xfrm>
            <a:off x="6766560" y="2971800"/>
            <a:ext cx="347472" cy="347472"/>
          </a:xfrm>
          <a:prstGeom prst="rect">
            <a:avLst/>
          </a:prstGeom>
          <a:noFill/>
          <a:ln/>
        </p:spPr>
        <p:txBody>
          <a:bodyPr wrap="square" lIns="0" tIns="0" rIns="0" bIns="0" rtlCol="0" anchor="ctr"/>
          <a:lstStyle/>
          <a:p>
            <a:pPr algn="ctr" indent="0" marL="0">
              <a:buNone/>
            </a:pPr>
            <a:r>
              <a:rPr lang="en-US" sz="1300" b="1" dirty="0">
                <a:solidFill>
                  <a:srgbClr val="21A0A0"/>
                </a:solidFill>
                <a:latin typeface="Calibri" pitchFamily="34" charset="0"/>
                <a:ea typeface="Calibri" pitchFamily="34" charset="-122"/>
                <a:cs typeface="Calibri" pitchFamily="34" charset="-120"/>
              </a:rPr>
              <a:t>8</a:t>
            </a:r>
            <a:endParaRPr lang="en-US" sz="1300" dirty="0"/>
          </a:p>
        </p:txBody>
      </p:sp>
      <p:sp>
        <p:nvSpPr>
          <p:cNvPr id="49" name="Text 47"/>
          <p:cNvSpPr/>
          <p:nvPr/>
        </p:nvSpPr>
        <p:spPr>
          <a:xfrm>
            <a:off x="7114032" y="2971800"/>
            <a:ext cx="1618488"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Streamlit App</a:t>
            </a:r>
            <a:endParaRPr lang="en-US" sz="1100" dirty="0"/>
          </a:p>
        </p:txBody>
      </p:sp>
      <p:sp>
        <p:nvSpPr>
          <p:cNvPr id="50" name="Text 48"/>
          <p:cNvSpPr/>
          <p:nvPr/>
        </p:nvSpPr>
        <p:spPr>
          <a:xfrm>
            <a:off x="6766560" y="3355848"/>
            <a:ext cx="1965960"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51" name="Text 49"/>
          <p:cNvSpPr/>
          <p:nvPr/>
        </p:nvSpPr>
        <p:spPr>
          <a:xfrm>
            <a:off x="6839712" y="3794760"/>
            <a:ext cx="1819656" cy="822960"/>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Upload image → classify → confidence bar chart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CNN Architecture</a:t>
            </a:r>
            <a:endParaRPr lang="en-US" sz="2600" dirty="0"/>
          </a:p>
        </p:txBody>
      </p:sp>
      <p:sp>
        <p:nvSpPr>
          <p:cNvPr id="4" name="Shape 2"/>
          <p:cNvSpPr/>
          <p:nvPr/>
        </p:nvSpPr>
        <p:spPr>
          <a:xfrm>
            <a:off x="182880" y="1234440"/>
            <a:ext cx="1005840" cy="2286000"/>
          </a:xfrm>
          <a:prstGeom prst="rect">
            <a:avLst/>
          </a:prstGeom>
          <a:solidFill>
            <a:srgbClr val="21A0A0"/>
          </a:solidFill>
          <a:ln/>
          <a:effectLst>
            <a:outerShdw sx="100000" sy="100000" kx="0" ky="0" algn="bl" rotWithShape="0" blurRad="101600" dist="38100" dir="8100000">
              <a:srgbClr val="000000">
                <a:alpha val="12000"/>
              </a:srgbClr>
            </a:outerShdw>
          </a:effectLst>
        </p:spPr>
      </p:sp>
      <p:sp>
        <p:nvSpPr>
          <p:cNvPr id="5" name="Text 3"/>
          <p:cNvSpPr/>
          <p:nvPr/>
        </p:nvSpPr>
        <p:spPr>
          <a:xfrm>
            <a:off x="182880" y="1234440"/>
            <a:ext cx="1005840" cy="22860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Input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28×28×3</a:t>
            </a:r>
            <a:endParaRPr lang="en-US" sz="1050" dirty="0"/>
          </a:p>
        </p:txBody>
      </p:sp>
      <p:sp>
        <p:nvSpPr>
          <p:cNvPr id="6" name="Shape 4"/>
          <p:cNvSpPr/>
          <p:nvPr/>
        </p:nvSpPr>
        <p:spPr>
          <a:xfrm>
            <a:off x="1188720" y="2340864"/>
            <a:ext cx="182880" cy="73152"/>
          </a:xfrm>
          <a:prstGeom prst="rect">
            <a:avLst/>
          </a:prstGeom>
          <a:solidFill>
            <a:srgbClr val="64748B"/>
          </a:solidFill>
          <a:ln/>
        </p:spPr>
      </p:sp>
      <p:sp>
        <p:nvSpPr>
          <p:cNvPr id="7" name="Shape 5"/>
          <p:cNvSpPr/>
          <p:nvPr/>
        </p:nvSpPr>
        <p:spPr>
          <a:xfrm>
            <a:off x="1371600" y="1234440"/>
            <a:ext cx="1463040" cy="2286000"/>
          </a:xfrm>
          <a:prstGeom prst="rect">
            <a:avLst/>
          </a:prstGeom>
          <a:solidFill>
            <a:srgbClr val="1B4F72"/>
          </a:solidFill>
          <a:ln/>
          <a:effectLst>
            <a:outerShdw sx="100000" sy="100000" kx="0" ky="0" algn="bl" rotWithShape="0" blurRad="101600" dist="38100" dir="8100000">
              <a:srgbClr val="000000">
                <a:alpha val="12000"/>
              </a:srgbClr>
            </a:outerShdw>
          </a:effectLst>
        </p:spPr>
      </p:sp>
      <p:sp>
        <p:nvSpPr>
          <p:cNvPr id="8" name="Text 6"/>
          <p:cNvSpPr/>
          <p:nvPr/>
        </p:nvSpPr>
        <p:spPr>
          <a:xfrm>
            <a:off x="1371600" y="1234440"/>
            <a:ext cx="1463040" cy="22860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1</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Conv(32)×2</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BN · Pool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Drop 25%</a:t>
            </a:r>
            <a:endParaRPr lang="en-US" sz="1050" dirty="0"/>
          </a:p>
        </p:txBody>
      </p:sp>
      <p:sp>
        <p:nvSpPr>
          <p:cNvPr id="9" name="Shape 7"/>
          <p:cNvSpPr/>
          <p:nvPr/>
        </p:nvSpPr>
        <p:spPr>
          <a:xfrm>
            <a:off x="2834640" y="2340864"/>
            <a:ext cx="182880" cy="73152"/>
          </a:xfrm>
          <a:prstGeom prst="rect">
            <a:avLst/>
          </a:prstGeom>
          <a:solidFill>
            <a:srgbClr val="64748B"/>
          </a:solidFill>
          <a:ln/>
        </p:spPr>
      </p:sp>
      <p:sp>
        <p:nvSpPr>
          <p:cNvPr id="10" name="Shape 8"/>
          <p:cNvSpPr/>
          <p:nvPr/>
        </p:nvSpPr>
        <p:spPr>
          <a:xfrm>
            <a:off x="3017520" y="1234440"/>
            <a:ext cx="1463040" cy="2286000"/>
          </a:xfrm>
          <a:prstGeom prst="rect">
            <a:avLst/>
          </a:prstGeom>
          <a:solidFill>
            <a:srgbClr val="1B4F72"/>
          </a:solidFill>
          <a:ln/>
          <a:effectLst>
            <a:outerShdw sx="100000" sy="100000" kx="0" ky="0" algn="bl" rotWithShape="0" blurRad="101600" dist="38100" dir="8100000">
              <a:srgbClr val="000000">
                <a:alpha val="12000"/>
              </a:srgbClr>
            </a:outerShdw>
          </a:effectLst>
        </p:spPr>
      </p:sp>
      <p:sp>
        <p:nvSpPr>
          <p:cNvPr id="11" name="Text 9"/>
          <p:cNvSpPr/>
          <p:nvPr/>
        </p:nvSpPr>
        <p:spPr>
          <a:xfrm>
            <a:off x="3017520" y="1234440"/>
            <a:ext cx="1463040" cy="22860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2</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Conv(64)×2</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BN · Pool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Drop 30%</a:t>
            </a:r>
            <a:endParaRPr lang="en-US" sz="1050" dirty="0"/>
          </a:p>
        </p:txBody>
      </p:sp>
      <p:sp>
        <p:nvSpPr>
          <p:cNvPr id="12" name="Shape 10"/>
          <p:cNvSpPr/>
          <p:nvPr/>
        </p:nvSpPr>
        <p:spPr>
          <a:xfrm>
            <a:off x="4480560" y="2340864"/>
            <a:ext cx="182880" cy="73152"/>
          </a:xfrm>
          <a:prstGeom prst="rect">
            <a:avLst/>
          </a:prstGeom>
          <a:solidFill>
            <a:srgbClr val="64748B"/>
          </a:solidFill>
          <a:ln/>
        </p:spPr>
      </p:sp>
      <p:sp>
        <p:nvSpPr>
          <p:cNvPr id="13" name="Shape 11"/>
          <p:cNvSpPr/>
          <p:nvPr/>
        </p:nvSpPr>
        <p:spPr>
          <a:xfrm>
            <a:off x="4663440" y="1234440"/>
            <a:ext cx="1463040" cy="2286000"/>
          </a:xfrm>
          <a:prstGeom prst="rect">
            <a:avLst/>
          </a:prstGeom>
          <a:solidFill>
            <a:srgbClr val="1B4F72"/>
          </a:solidFill>
          <a:ln/>
          <a:effectLst>
            <a:outerShdw sx="100000" sy="100000" kx="0" ky="0" algn="bl" rotWithShape="0" blurRad="101600" dist="38100" dir="8100000">
              <a:srgbClr val="000000">
                <a:alpha val="12000"/>
              </a:srgbClr>
            </a:outerShdw>
          </a:effectLst>
        </p:spPr>
      </p:sp>
      <p:sp>
        <p:nvSpPr>
          <p:cNvPr id="14" name="Text 12"/>
          <p:cNvSpPr/>
          <p:nvPr/>
        </p:nvSpPr>
        <p:spPr>
          <a:xfrm>
            <a:off x="4663440" y="1234440"/>
            <a:ext cx="1463040" cy="22860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3</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Conv(128)</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BN · Pool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Drop 40%</a:t>
            </a:r>
            <a:endParaRPr lang="en-US" sz="1050" dirty="0"/>
          </a:p>
        </p:txBody>
      </p:sp>
      <p:sp>
        <p:nvSpPr>
          <p:cNvPr id="15" name="Shape 13"/>
          <p:cNvSpPr/>
          <p:nvPr/>
        </p:nvSpPr>
        <p:spPr>
          <a:xfrm>
            <a:off x="6126480" y="2340864"/>
            <a:ext cx="182880" cy="73152"/>
          </a:xfrm>
          <a:prstGeom prst="rect">
            <a:avLst/>
          </a:prstGeom>
          <a:solidFill>
            <a:srgbClr val="64748B"/>
          </a:solidFill>
          <a:ln/>
        </p:spPr>
      </p:sp>
      <p:sp>
        <p:nvSpPr>
          <p:cNvPr id="16" name="Shape 14"/>
          <p:cNvSpPr/>
          <p:nvPr/>
        </p:nvSpPr>
        <p:spPr>
          <a:xfrm>
            <a:off x="6309360" y="1234440"/>
            <a:ext cx="1463040" cy="2286000"/>
          </a:xfrm>
          <a:prstGeom prst="rect">
            <a:avLst/>
          </a:prstGeom>
          <a:solidFill>
            <a:srgbClr val="065A82"/>
          </a:solidFill>
          <a:ln/>
          <a:effectLst>
            <a:outerShdw sx="100000" sy="100000" kx="0" ky="0" algn="bl" rotWithShape="0" blurRad="101600" dist="38100" dir="8100000">
              <a:srgbClr val="000000">
                <a:alpha val="12000"/>
              </a:srgbClr>
            </a:outerShdw>
          </a:effectLst>
        </p:spPr>
      </p:sp>
      <p:sp>
        <p:nvSpPr>
          <p:cNvPr id="17" name="Text 15"/>
          <p:cNvSpPr/>
          <p:nvPr/>
        </p:nvSpPr>
        <p:spPr>
          <a:xfrm>
            <a:off x="6309360" y="1234440"/>
            <a:ext cx="1463040" cy="22860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Flatten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 Dense(256)</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BN · Drop 50%</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 Dense(128)</a:t>
            </a:r>
            <a:endParaRPr lang="en-US" sz="1050" dirty="0"/>
          </a:p>
        </p:txBody>
      </p:sp>
      <p:sp>
        <p:nvSpPr>
          <p:cNvPr id="18" name="Shape 16"/>
          <p:cNvSpPr/>
          <p:nvPr/>
        </p:nvSpPr>
        <p:spPr>
          <a:xfrm>
            <a:off x="7772400" y="2340864"/>
            <a:ext cx="182880" cy="73152"/>
          </a:xfrm>
          <a:prstGeom prst="rect">
            <a:avLst/>
          </a:prstGeom>
          <a:solidFill>
            <a:srgbClr val="64748B"/>
          </a:solidFill>
          <a:ln/>
        </p:spPr>
      </p:sp>
      <p:sp>
        <p:nvSpPr>
          <p:cNvPr id="19" name="Shape 17"/>
          <p:cNvSpPr/>
          <p:nvPr/>
        </p:nvSpPr>
        <p:spPr>
          <a:xfrm>
            <a:off x="7955280" y="1234440"/>
            <a:ext cx="1005840" cy="2286000"/>
          </a:xfrm>
          <a:prstGeom prst="rect">
            <a:avLst/>
          </a:prstGeom>
          <a:solidFill>
            <a:srgbClr val="27AE60"/>
          </a:solidFill>
          <a:ln/>
          <a:effectLst>
            <a:outerShdw sx="100000" sy="100000" kx="0" ky="0" algn="bl" rotWithShape="0" blurRad="101600" dist="38100" dir="8100000">
              <a:srgbClr val="000000">
                <a:alpha val="12000"/>
              </a:srgbClr>
            </a:outerShdw>
          </a:effectLst>
        </p:spPr>
      </p:sp>
      <p:sp>
        <p:nvSpPr>
          <p:cNvPr id="20" name="Text 18"/>
          <p:cNvSpPr/>
          <p:nvPr/>
        </p:nvSpPr>
        <p:spPr>
          <a:xfrm>
            <a:off x="7955280" y="1234440"/>
            <a:ext cx="1005840" cy="22860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Softmax</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7 classes</a:t>
            </a:r>
            <a:endParaRPr lang="en-US" sz="1050" dirty="0"/>
          </a:p>
        </p:txBody>
      </p:sp>
      <p:sp>
        <p:nvSpPr>
          <p:cNvPr id="21" name="Shape 19"/>
          <p:cNvSpPr/>
          <p:nvPr/>
        </p:nvSpPr>
        <p:spPr>
          <a:xfrm>
            <a:off x="365760" y="3749040"/>
            <a:ext cx="1600200" cy="10972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365760" y="3776472"/>
            <a:ext cx="160020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365760" y="4114800"/>
            <a:ext cx="1600200" cy="256032"/>
          </a:xfrm>
          <a:prstGeom prst="rect">
            <a:avLst/>
          </a:prstGeom>
          <a:noFill/>
          <a:ln/>
        </p:spPr>
        <p:txBody>
          <a:bodyPr wrap="square" lIns="0" tIns="0" rIns="0" bIns="0" rtlCol="0" anchor="ctr"/>
          <a:lstStyle/>
          <a:p>
            <a:pPr algn="ctr" indent="0" marL="0">
              <a:buNone/>
            </a:pPr>
            <a:r>
              <a:rPr lang="en-US" sz="900" b="1" dirty="0">
                <a:solidFill>
                  <a:srgbClr val="1B4F72"/>
                </a:solidFill>
                <a:latin typeface="Calibri" pitchFamily="34" charset="0"/>
                <a:ea typeface="Calibri" pitchFamily="34" charset="-122"/>
                <a:cs typeface="Calibri" pitchFamily="34" charset="-120"/>
              </a:rPr>
              <a:t>Optimizer</a:t>
            </a:r>
            <a:endParaRPr lang="en-US" sz="900" dirty="0"/>
          </a:p>
        </p:txBody>
      </p:sp>
      <p:sp>
        <p:nvSpPr>
          <p:cNvPr id="24" name="Text 22"/>
          <p:cNvSpPr/>
          <p:nvPr/>
        </p:nvSpPr>
        <p:spPr>
          <a:xfrm>
            <a:off x="365760" y="4361688"/>
            <a:ext cx="1600200" cy="256032"/>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Adam (lr=0.001)</a:t>
            </a:r>
            <a:endParaRPr lang="en-US" sz="900" dirty="0"/>
          </a:p>
        </p:txBody>
      </p:sp>
      <p:sp>
        <p:nvSpPr>
          <p:cNvPr id="25" name="Shape 23"/>
          <p:cNvSpPr/>
          <p:nvPr/>
        </p:nvSpPr>
        <p:spPr>
          <a:xfrm>
            <a:off x="2084832" y="3749040"/>
            <a:ext cx="1600200" cy="10972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Text 24"/>
          <p:cNvSpPr/>
          <p:nvPr/>
        </p:nvSpPr>
        <p:spPr>
          <a:xfrm>
            <a:off x="2084832" y="3776472"/>
            <a:ext cx="160020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2084832" y="4114800"/>
            <a:ext cx="1600200" cy="256032"/>
          </a:xfrm>
          <a:prstGeom prst="rect">
            <a:avLst/>
          </a:prstGeom>
          <a:noFill/>
          <a:ln/>
        </p:spPr>
        <p:txBody>
          <a:bodyPr wrap="square" lIns="0" tIns="0" rIns="0" bIns="0" rtlCol="0" anchor="ctr"/>
          <a:lstStyle/>
          <a:p>
            <a:pPr algn="ctr" indent="0" marL="0">
              <a:buNone/>
            </a:pPr>
            <a:r>
              <a:rPr lang="en-US" sz="900" b="1" dirty="0">
                <a:solidFill>
                  <a:srgbClr val="1B4F72"/>
                </a:solidFill>
                <a:latin typeface="Calibri" pitchFamily="34" charset="0"/>
                <a:ea typeface="Calibri" pitchFamily="34" charset="-122"/>
                <a:cs typeface="Calibri" pitchFamily="34" charset="-120"/>
              </a:rPr>
              <a:t>Loss</a:t>
            </a:r>
            <a:endParaRPr lang="en-US" sz="900" dirty="0"/>
          </a:p>
        </p:txBody>
      </p:sp>
      <p:sp>
        <p:nvSpPr>
          <p:cNvPr id="28" name="Text 26"/>
          <p:cNvSpPr/>
          <p:nvPr/>
        </p:nvSpPr>
        <p:spPr>
          <a:xfrm>
            <a:off x="2084832" y="4361688"/>
            <a:ext cx="1600200" cy="256032"/>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Categorical Cross-Entropy</a:t>
            </a:r>
            <a:endParaRPr lang="en-US" sz="900" dirty="0"/>
          </a:p>
        </p:txBody>
      </p:sp>
      <p:sp>
        <p:nvSpPr>
          <p:cNvPr id="29" name="Shape 27"/>
          <p:cNvSpPr/>
          <p:nvPr/>
        </p:nvSpPr>
        <p:spPr>
          <a:xfrm>
            <a:off x="3803904" y="3749040"/>
            <a:ext cx="1600200" cy="10972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Text 28"/>
          <p:cNvSpPr/>
          <p:nvPr/>
        </p:nvSpPr>
        <p:spPr>
          <a:xfrm>
            <a:off x="3803904" y="3776472"/>
            <a:ext cx="160020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1" name="Text 29"/>
          <p:cNvSpPr/>
          <p:nvPr/>
        </p:nvSpPr>
        <p:spPr>
          <a:xfrm>
            <a:off x="3803904" y="4114800"/>
            <a:ext cx="1600200" cy="256032"/>
          </a:xfrm>
          <a:prstGeom prst="rect">
            <a:avLst/>
          </a:prstGeom>
          <a:noFill/>
          <a:ln/>
        </p:spPr>
        <p:txBody>
          <a:bodyPr wrap="square" lIns="0" tIns="0" rIns="0" bIns="0" rtlCol="0" anchor="ctr"/>
          <a:lstStyle/>
          <a:p>
            <a:pPr algn="ctr" indent="0" marL="0">
              <a:buNone/>
            </a:pPr>
            <a:r>
              <a:rPr lang="en-US" sz="900" b="1" dirty="0">
                <a:solidFill>
                  <a:srgbClr val="1B4F72"/>
                </a:solidFill>
                <a:latin typeface="Calibri" pitchFamily="34" charset="0"/>
                <a:ea typeface="Calibri" pitchFamily="34" charset="-122"/>
                <a:cs typeface="Calibri" pitchFamily="34" charset="-120"/>
              </a:rPr>
              <a:t>Early Stop</a:t>
            </a:r>
            <a:endParaRPr lang="en-US" sz="900" dirty="0"/>
          </a:p>
        </p:txBody>
      </p:sp>
      <p:sp>
        <p:nvSpPr>
          <p:cNvPr id="32" name="Text 30"/>
          <p:cNvSpPr/>
          <p:nvPr/>
        </p:nvSpPr>
        <p:spPr>
          <a:xfrm>
            <a:off x="3803904" y="4361688"/>
            <a:ext cx="1600200" cy="256032"/>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Patience = 15 epochs</a:t>
            </a:r>
            <a:endParaRPr lang="en-US" sz="900" dirty="0"/>
          </a:p>
        </p:txBody>
      </p:sp>
      <p:sp>
        <p:nvSpPr>
          <p:cNvPr id="33" name="Shape 31"/>
          <p:cNvSpPr/>
          <p:nvPr/>
        </p:nvSpPr>
        <p:spPr>
          <a:xfrm>
            <a:off x="5522976" y="3749040"/>
            <a:ext cx="1600200" cy="10972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Text 32"/>
          <p:cNvSpPr/>
          <p:nvPr/>
        </p:nvSpPr>
        <p:spPr>
          <a:xfrm>
            <a:off x="5522976" y="3776472"/>
            <a:ext cx="160020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5522976" y="4114800"/>
            <a:ext cx="1600200" cy="256032"/>
          </a:xfrm>
          <a:prstGeom prst="rect">
            <a:avLst/>
          </a:prstGeom>
          <a:noFill/>
          <a:ln/>
        </p:spPr>
        <p:txBody>
          <a:bodyPr wrap="square" lIns="0" tIns="0" rIns="0" bIns="0" rtlCol="0" anchor="ctr"/>
          <a:lstStyle/>
          <a:p>
            <a:pPr algn="ctr" indent="0" marL="0">
              <a:buNone/>
            </a:pPr>
            <a:r>
              <a:rPr lang="en-US" sz="900" b="1" dirty="0">
                <a:solidFill>
                  <a:srgbClr val="1B4F72"/>
                </a:solidFill>
                <a:latin typeface="Calibri" pitchFamily="34" charset="0"/>
                <a:ea typeface="Calibri" pitchFamily="34" charset="-122"/>
                <a:cs typeface="Calibri" pitchFamily="34" charset="-120"/>
              </a:rPr>
              <a:t>Batch Size</a:t>
            </a:r>
            <a:endParaRPr lang="en-US" sz="900" dirty="0"/>
          </a:p>
        </p:txBody>
      </p:sp>
      <p:sp>
        <p:nvSpPr>
          <p:cNvPr id="36" name="Text 34"/>
          <p:cNvSpPr/>
          <p:nvPr/>
        </p:nvSpPr>
        <p:spPr>
          <a:xfrm>
            <a:off x="5522976" y="4361688"/>
            <a:ext cx="1600200" cy="256032"/>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64 images</a:t>
            </a:r>
            <a:endParaRPr lang="en-US" sz="900" dirty="0"/>
          </a:p>
        </p:txBody>
      </p:sp>
      <p:sp>
        <p:nvSpPr>
          <p:cNvPr id="37" name="Shape 35"/>
          <p:cNvSpPr/>
          <p:nvPr/>
        </p:nvSpPr>
        <p:spPr>
          <a:xfrm>
            <a:off x="7242048" y="3749040"/>
            <a:ext cx="1600200" cy="10972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8" name="Text 36"/>
          <p:cNvSpPr/>
          <p:nvPr/>
        </p:nvSpPr>
        <p:spPr>
          <a:xfrm>
            <a:off x="7242048" y="3776472"/>
            <a:ext cx="1600200" cy="347472"/>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9" name="Text 37"/>
          <p:cNvSpPr/>
          <p:nvPr/>
        </p:nvSpPr>
        <p:spPr>
          <a:xfrm>
            <a:off x="7242048" y="4114800"/>
            <a:ext cx="1600200" cy="256032"/>
          </a:xfrm>
          <a:prstGeom prst="rect">
            <a:avLst/>
          </a:prstGeom>
          <a:noFill/>
          <a:ln/>
        </p:spPr>
        <p:txBody>
          <a:bodyPr wrap="square" lIns="0" tIns="0" rIns="0" bIns="0" rtlCol="0" anchor="ctr"/>
          <a:lstStyle/>
          <a:p>
            <a:pPr algn="ctr" indent="0" marL="0">
              <a:buNone/>
            </a:pPr>
            <a:r>
              <a:rPr lang="en-US" sz="900" b="1" dirty="0">
                <a:solidFill>
                  <a:srgbClr val="1B4F72"/>
                </a:solidFill>
                <a:latin typeface="Calibri" pitchFamily="34" charset="0"/>
                <a:ea typeface="Calibri" pitchFamily="34" charset="-122"/>
                <a:cs typeface="Calibri" pitchFamily="34" charset="-120"/>
              </a:rPr>
              <a:t>Max Epochs</a:t>
            </a:r>
            <a:endParaRPr lang="en-US" sz="900" dirty="0"/>
          </a:p>
        </p:txBody>
      </p:sp>
      <p:sp>
        <p:nvSpPr>
          <p:cNvPr id="40" name="Text 38"/>
          <p:cNvSpPr/>
          <p:nvPr/>
        </p:nvSpPr>
        <p:spPr>
          <a:xfrm>
            <a:off x="7242048" y="4361688"/>
            <a:ext cx="1600200" cy="256032"/>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Handling Imbalance &amp; Data Augmentation</a:t>
            </a:r>
            <a:endParaRPr lang="en-US" sz="2400" dirty="0"/>
          </a:p>
        </p:txBody>
      </p:sp>
      <p:sp>
        <p:nvSpPr>
          <p:cNvPr id="4" name="Shape 2"/>
          <p:cNvSpPr/>
          <p:nvPr/>
        </p:nvSpPr>
        <p:spPr>
          <a:xfrm>
            <a:off x="274320" y="1005840"/>
            <a:ext cx="4023360" cy="3840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57200" y="1097280"/>
            <a:ext cx="3657600" cy="411480"/>
          </a:xfrm>
          <a:prstGeom prst="rect">
            <a:avLst/>
          </a:prstGeom>
          <a:noFill/>
          <a:ln/>
        </p:spPr>
        <p:txBody>
          <a:bodyPr wrap="square" rtlCol="0" anchor="ctr"/>
          <a:lstStyle/>
          <a:p>
            <a:pPr indent="0" marL="0">
              <a:buNone/>
            </a:pPr>
            <a:r>
              <a:rPr lang="en-US" sz="1500" b="1" dirty="0">
                <a:solidFill>
                  <a:srgbClr val="1B4F72"/>
                </a:solidFill>
                <a:latin typeface="Calibri" pitchFamily="34" charset="0"/>
                <a:ea typeface="Calibri" pitchFamily="34" charset="-122"/>
                <a:cs typeface="Calibri" pitchFamily="34" charset="-120"/>
              </a:rPr>
              <a:t>⚖️  Imbalance Strategies</a:t>
            </a:r>
            <a:endParaRPr lang="en-US" sz="1500" dirty="0"/>
          </a:p>
        </p:txBody>
      </p:sp>
      <p:sp>
        <p:nvSpPr>
          <p:cNvPr id="6" name="Shape 4"/>
          <p:cNvSpPr/>
          <p:nvPr/>
        </p:nvSpPr>
        <p:spPr>
          <a:xfrm>
            <a:off x="457200" y="1600200"/>
            <a:ext cx="45720" cy="640080"/>
          </a:xfrm>
          <a:prstGeom prst="rect">
            <a:avLst/>
          </a:prstGeom>
          <a:solidFill>
            <a:srgbClr val="21A0A0"/>
          </a:solidFill>
          <a:ln/>
        </p:spPr>
      </p:sp>
      <p:sp>
        <p:nvSpPr>
          <p:cNvPr id="7" name="Text 5"/>
          <p:cNvSpPr/>
          <p:nvPr/>
        </p:nvSpPr>
        <p:spPr>
          <a:xfrm>
            <a:off x="594360" y="1600200"/>
            <a:ext cx="35661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Stratified Split</a:t>
            </a:r>
            <a:endParaRPr lang="en-US" sz="1200" dirty="0"/>
          </a:p>
        </p:txBody>
      </p:sp>
      <p:sp>
        <p:nvSpPr>
          <p:cNvPr id="8" name="Text 6"/>
          <p:cNvSpPr/>
          <p:nvPr/>
        </p:nvSpPr>
        <p:spPr>
          <a:xfrm>
            <a:off x="594360" y="1892808"/>
            <a:ext cx="356616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Preserves class ratios in both train/test sets</a:t>
            </a:r>
            <a:endParaRPr lang="en-US" sz="1050" dirty="0"/>
          </a:p>
        </p:txBody>
      </p:sp>
      <p:sp>
        <p:nvSpPr>
          <p:cNvPr id="9" name="Shape 7"/>
          <p:cNvSpPr/>
          <p:nvPr/>
        </p:nvSpPr>
        <p:spPr>
          <a:xfrm>
            <a:off x="457200" y="2651760"/>
            <a:ext cx="45720" cy="640080"/>
          </a:xfrm>
          <a:prstGeom prst="rect">
            <a:avLst/>
          </a:prstGeom>
          <a:solidFill>
            <a:srgbClr val="21A0A0"/>
          </a:solidFill>
          <a:ln/>
        </p:spPr>
      </p:sp>
      <p:sp>
        <p:nvSpPr>
          <p:cNvPr id="10" name="Text 8"/>
          <p:cNvSpPr/>
          <p:nvPr/>
        </p:nvSpPr>
        <p:spPr>
          <a:xfrm>
            <a:off x="594360" y="2651760"/>
            <a:ext cx="35661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Class Weights</a:t>
            </a:r>
            <a:endParaRPr lang="en-US" sz="1200" dirty="0"/>
          </a:p>
        </p:txBody>
      </p:sp>
      <p:sp>
        <p:nvSpPr>
          <p:cNvPr id="11" name="Text 9"/>
          <p:cNvSpPr/>
          <p:nvPr/>
        </p:nvSpPr>
        <p:spPr>
          <a:xfrm>
            <a:off x="594360" y="2944368"/>
            <a:ext cx="356616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Inverse-frequency weights penalize majority class in loss</a:t>
            </a:r>
            <a:endParaRPr lang="en-US" sz="1050" dirty="0"/>
          </a:p>
        </p:txBody>
      </p:sp>
      <p:sp>
        <p:nvSpPr>
          <p:cNvPr id="12" name="Shape 10"/>
          <p:cNvSpPr/>
          <p:nvPr/>
        </p:nvSpPr>
        <p:spPr>
          <a:xfrm>
            <a:off x="457200" y="3703320"/>
            <a:ext cx="45720" cy="640080"/>
          </a:xfrm>
          <a:prstGeom prst="rect">
            <a:avLst/>
          </a:prstGeom>
          <a:solidFill>
            <a:srgbClr val="21A0A0"/>
          </a:solidFill>
          <a:ln/>
        </p:spPr>
      </p:sp>
      <p:sp>
        <p:nvSpPr>
          <p:cNvPr id="13" name="Text 11"/>
          <p:cNvSpPr/>
          <p:nvPr/>
        </p:nvSpPr>
        <p:spPr>
          <a:xfrm>
            <a:off x="594360" y="3703320"/>
            <a:ext cx="35661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Balanced Metric</a:t>
            </a:r>
            <a:endParaRPr lang="en-US" sz="1200" dirty="0"/>
          </a:p>
        </p:txBody>
      </p:sp>
      <p:sp>
        <p:nvSpPr>
          <p:cNvPr id="14" name="Text 12"/>
          <p:cNvSpPr/>
          <p:nvPr/>
        </p:nvSpPr>
        <p:spPr>
          <a:xfrm>
            <a:off x="594360" y="3995928"/>
            <a:ext cx="356616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F1-score, precision, recall reported per class</a:t>
            </a:r>
            <a:endParaRPr lang="en-US" sz="1050" dirty="0"/>
          </a:p>
        </p:txBody>
      </p:sp>
      <p:sp>
        <p:nvSpPr>
          <p:cNvPr id="15" name="Shape 13"/>
          <p:cNvSpPr/>
          <p:nvPr/>
        </p:nvSpPr>
        <p:spPr>
          <a:xfrm>
            <a:off x="4846320" y="1005840"/>
            <a:ext cx="4023360" cy="3840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029200" y="1097280"/>
            <a:ext cx="3657600" cy="411480"/>
          </a:xfrm>
          <a:prstGeom prst="rect">
            <a:avLst/>
          </a:prstGeom>
          <a:noFill/>
          <a:ln/>
        </p:spPr>
        <p:txBody>
          <a:bodyPr wrap="square" rtlCol="0" anchor="ctr"/>
          <a:lstStyle/>
          <a:p>
            <a:pPr indent="0" marL="0">
              <a:buNone/>
            </a:pPr>
            <a:r>
              <a:rPr lang="en-US" sz="1500" b="1" dirty="0">
                <a:solidFill>
                  <a:srgbClr val="1B4F72"/>
                </a:solidFill>
                <a:latin typeface="Calibri" pitchFamily="34" charset="0"/>
                <a:ea typeface="Calibri" pitchFamily="34" charset="-122"/>
                <a:cs typeface="Calibri" pitchFamily="34" charset="-120"/>
              </a:rPr>
              <a:t>🔄  Augmentation Techniques</a:t>
            </a:r>
            <a:endParaRPr lang="en-US" sz="1500" dirty="0"/>
          </a:p>
        </p:txBody>
      </p:sp>
      <p:sp>
        <p:nvSpPr>
          <p:cNvPr id="17" name="Text 15"/>
          <p:cNvSpPr/>
          <p:nvPr/>
        </p:nvSpPr>
        <p:spPr>
          <a:xfrm>
            <a:off x="4983480" y="1554480"/>
            <a:ext cx="45720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8" name="Text 16"/>
          <p:cNvSpPr/>
          <p:nvPr/>
        </p:nvSpPr>
        <p:spPr>
          <a:xfrm>
            <a:off x="5440680" y="1554480"/>
            <a:ext cx="128016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Rotation</a:t>
            </a:r>
            <a:endParaRPr lang="en-US" sz="1200" dirty="0"/>
          </a:p>
        </p:txBody>
      </p:sp>
      <p:sp>
        <p:nvSpPr>
          <p:cNvPr id="19" name="Text 17"/>
          <p:cNvSpPr/>
          <p:nvPr/>
        </p:nvSpPr>
        <p:spPr>
          <a:xfrm>
            <a:off x="6720840" y="1554480"/>
            <a:ext cx="192024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±20 degrees</a:t>
            </a:r>
            <a:endParaRPr lang="en-US" sz="1100" dirty="0"/>
          </a:p>
        </p:txBody>
      </p:sp>
      <p:sp>
        <p:nvSpPr>
          <p:cNvPr id="20" name="Text 18"/>
          <p:cNvSpPr/>
          <p:nvPr/>
        </p:nvSpPr>
        <p:spPr>
          <a:xfrm>
            <a:off x="4983480" y="2194560"/>
            <a:ext cx="45720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1" name="Text 19"/>
          <p:cNvSpPr/>
          <p:nvPr/>
        </p:nvSpPr>
        <p:spPr>
          <a:xfrm>
            <a:off x="5440680" y="2194560"/>
            <a:ext cx="128016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H/V Flip</a:t>
            </a:r>
            <a:endParaRPr lang="en-US" sz="1200" dirty="0"/>
          </a:p>
        </p:txBody>
      </p:sp>
      <p:sp>
        <p:nvSpPr>
          <p:cNvPr id="22" name="Text 20"/>
          <p:cNvSpPr/>
          <p:nvPr/>
        </p:nvSpPr>
        <p:spPr>
          <a:xfrm>
            <a:off x="6720840" y="2194560"/>
            <a:ext cx="192024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Horizontal &amp; vertical</a:t>
            </a:r>
            <a:endParaRPr lang="en-US" sz="1100" dirty="0"/>
          </a:p>
        </p:txBody>
      </p:sp>
      <p:sp>
        <p:nvSpPr>
          <p:cNvPr id="23" name="Text 21"/>
          <p:cNvSpPr/>
          <p:nvPr/>
        </p:nvSpPr>
        <p:spPr>
          <a:xfrm>
            <a:off x="4983480" y="2834640"/>
            <a:ext cx="45720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4" name="Text 22"/>
          <p:cNvSpPr/>
          <p:nvPr/>
        </p:nvSpPr>
        <p:spPr>
          <a:xfrm>
            <a:off x="5440680" y="2834640"/>
            <a:ext cx="128016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Shift</a:t>
            </a:r>
            <a:endParaRPr lang="en-US" sz="1200" dirty="0"/>
          </a:p>
        </p:txBody>
      </p:sp>
      <p:sp>
        <p:nvSpPr>
          <p:cNvPr id="25" name="Text 23"/>
          <p:cNvSpPr/>
          <p:nvPr/>
        </p:nvSpPr>
        <p:spPr>
          <a:xfrm>
            <a:off x="6720840" y="2834640"/>
            <a:ext cx="192024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Width &amp; height ±10%</a:t>
            </a:r>
            <a:endParaRPr lang="en-US" sz="1100" dirty="0"/>
          </a:p>
        </p:txBody>
      </p:sp>
      <p:sp>
        <p:nvSpPr>
          <p:cNvPr id="26" name="Text 24"/>
          <p:cNvSpPr/>
          <p:nvPr/>
        </p:nvSpPr>
        <p:spPr>
          <a:xfrm>
            <a:off x="4983480" y="3474720"/>
            <a:ext cx="45720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7" name="Text 25"/>
          <p:cNvSpPr/>
          <p:nvPr/>
        </p:nvSpPr>
        <p:spPr>
          <a:xfrm>
            <a:off x="5440680" y="3474720"/>
            <a:ext cx="128016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Zoom</a:t>
            </a:r>
            <a:endParaRPr lang="en-US" sz="1200" dirty="0"/>
          </a:p>
        </p:txBody>
      </p:sp>
      <p:sp>
        <p:nvSpPr>
          <p:cNvPr id="28" name="Text 26"/>
          <p:cNvSpPr/>
          <p:nvPr/>
        </p:nvSpPr>
        <p:spPr>
          <a:xfrm>
            <a:off x="6720840" y="3474720"/>
            <a:ext cx="192024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±10% zoom range</a:t>
            </a:r>
            <a:endParaRPr lang="en-US" sz="1100" dirty="0"/>
          </a:p>
        </p:txBody>
      </p:sp>
      <p:sp>
        <p:nvSpPr>
          <p:cNvPr id="29" name="Text 27"/>
          <p:cNvSpPr/>
          <p:nvPr/>
        </p:nvSpPr>
        <p:spPr>
          <a:xfrm>
            <a:off x="4983480" y="4114800"/>
            <a:ext cx="45720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5440680" y="4114800"/>
            <a:ext cx="128016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Fill Mode</a:t>
            </a:r>
            <a:endParaRPr lang="en-US" sz="1200" dirty="0"/>
          </a:p>
        </p:txBody>
      </p:sp>
      <p:sp>
        <p:nvSpPr>
          <p:cNvPr id="31" name="Text 29"/>
          <p:cNvSpPr/>
          <p:nvPr/>
        </p:nvSpPr>
        <p:spPr>
          <a:xfrm>
            <a:off x="6720840" y="4114800"/>
            <a:ext cx="1920240" cy="5029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Nearest-pixel fill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Model Evaluation &amp; Results</a:t>
            </a:r>
            <a:endParaRPr lang="en-US" sz="2600" dirty="0"/>
          </a:p>
        </p:txBody>
      </p:sp>
      <p:sp>
        <p:nvSpPr>
          <p:cNvPr id="4" name="Shape 2"/>
          <p:cNvSpPr/>
          <p:nvPr/>
        </p:nvSpPr>
        <p:spPr>
          <a:xfrm>
            <a:off x="274320" y="1051560"/>
            <a:ext cx="1965960" cy="14173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274320" y="1097280"/>
            <a:ext cx="1965960" cy="47548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274320" y="1572768"/>
            <a:ext cx="1965960" cy="292608"/>
          </a:xfrm>
          <a:prstGeom prst="rect">
            <a:avLst/>
          </a:prstGeom>
          <a:noFill/>
          <a:ln/>
        </p:spPr>
        <p:txBody>
          <a:bodyPr wrap="square" lIns="0" tIns="0" rIns="0" bIns="0"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Accuracy</a:t>
            </a:r>
            <a:endParaRPr lang="en-US" sz="1200" dirty="0"/>
          </a:p>
        </p:txBody>
      </p:sp>
      <p:sp>
        <p:nvSpPr>
          <p:cNvPr id="7" name="Text 5"/>
          <p:cNvSpPr/>
          <p:nvPr/>
        </p:nvSpPr>
        <p:spPr>
          <a:xfrm>
            <a:off x="274320" y="1847088"/>
            <a:ext cx="1965960" cy="274320"/>
          </a:xfrm>
          <a:prstGeom prst="rect">
            <a:avLst/>
          </a:prstGeom>
          <a:noFill/>
          <a:ln/>
        </p:spPr>
        <p:txBody>
          <a:bodyPr wrap="square" lIns="0" tIns="0" rIns="0" bIns="0" rtlCol="0" anchor="ctr"/>
          <a:lstStyle/>
          <a:p>
            <a:pPr algn="ctr" indent="0" marL="0">
              <a:buNone/>
            </a:pPr>
            <a:r>
              <a:rPr lang="en-US" sz="1100" dirty="0">
                <a:solidFill>
                  <a:srgbClr val="21A0A0"/>
                </a:solidFill>
                <a:latin typeface="Calibri" pitchFamily="34" charset="0"/>
                <a:ea typeface="Calibri" pitchFamily="34" charset="-122"/>
                <a:cs typeface="Calibri" pitchFamily="34" charset="-120"/>
              </a:rPr>
              <a:t>Test Set</a:t>
            </a:r>
            <a:endParaRPr lang="en-US" sz="1100" dirty="0"/>
          </a:p>
        </p:txBody>
      </p:sp>
      <p:sp>
        <p:nvSpPr>
          <p:cNvPr id="8" name="Text 6"/>
          <p:cNvSpPr/>
          <p:nvPr/>
        </p:nvSpPr>
        <p:spPr>
          <a:xfrm>
            <a:off x="274320" y="2121408"/>
            <a:ext cx="19659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Overall classification rate</a:t>
            </a:r>
            <a:endParaRPr lang="en-US" sz="900" dirty="0"/>
          </a:p>
        </p:txBody>
      </p:sp>
      <p:sp>
        <p:nvSpPr>
          <p:cNvPr id="9" name="Shape 7"/>
          <p:cNvSpPr/>
          <p:nvPr/>
        </p:nvSpPr>
        <p:spPr>
          <a:xfrm>
            <a:off x="2423160" y="1051560"/>
            <a:ext cx="1965960" cy="14173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2423160" y="1097280"/>
            <a:ext cx="1965960" cy="47548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2423160" y="1572768"/>
            <a:ext cx="1965960" cy="292608"/>
          </a:xfrm>
          <a:prstGeom prst="rect">
            <a:avLst/>
          </a:prstGeom>
          <a:noFill/>
          <a:ln/>
        </p:spPr>
        <p:txBody>
          <a:bodyPr wrap="square" lIns="0" tIns="0" rIns="0" bIns="0"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ROC-AUC</a:t>
            </a:r>
            <a:endParaRPr lang="en-US" sz="1200" dirty="0"/>
          </a:p>
        </p:txBody>
      </p:sp>
      <p:sp>
        <p:nvSpPr>
          <p:cNvPr id="12" name="Text 10"/>
          <p:cNvSpPr/>
          <p:nvPr/>
        </p:nvSpPr>
        <p:spPr>
          <a:xfrm>
            <a:off x="2423160" y="1847088"/>
            <a:ext cx="1965960" cy="274320"/>
          </a:xfrm>
          <a:prstGeom prst="rect">
            <a:avLst/>
          </a:prstGeom>
          <a:noFill/>
          <a:ln/>
        </p:spPr>
        <p:txBody>
          <a:bodyPr wrap="square" lIns="0" tIns="0" rIns="0" bIns="0" rtlCol="0" anchor="ctr"/>
          <a:lstStyle/>
          <a:p>
            <a:pPr algn="ctr" indent="0" marL="0">
              <a:buNone/>
            </a:pPr>
            <a:r>
              <a:rPr lang="en-US" sz="1100" dirty="0">
                <a:solidFill>
                  <a:srgbClr val="21A0A0"/>
                </a:solidFill>
                <a:latin typeface="Calibri" pitchFamily="34" charset="0"/>
                <a:ea typeface="Calibri" pitchFamily="34" charset="-122"/>
                <a:cs typeface="Calibri" pitchFamily="34" charset="-120"/>
              </a:rPr>
              <a:t>Per Class</a:t>
            </a:r>
            <a:endParaRPr lang="en-US" sz="1100" dirty="0"/>
          </a:p>
        </p:txBody>
      </p:sp>
      <p:sp>
        <p:nvSpPr>
          <p:cNvPr id="13" name="Text 11"/>
          <p:cNvSpPr/>
          <p:nvPr/>
        </p:nvSpPr>
        <p:spPr>
          <a:xfrm>
            <a:off x="2423160" y="2121408"/>
            <a:ext cx="19659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One-vs-Rest per lesion type</a:t>
            </a:r>
            <a:endParaRPr lang="en-US" sz="900" dirty="0"/>
          </a:p>
        </p:txBody>
      </p:sp>
      <p:sp>
        <p:nvSpPr>
          <p:cNvPr id="14" name="Shape 12"/>
          <p:cNvSpPr/>
          <p:nvPr/>
        </p:nvSpPr>
        <p:spPr>
          <a:xfrm>
            <a:off x="4572000" y="1051560"/>
            <a:ext cx="1965960" cy="14173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4572000" y="1097280"/>
            <a:ext cx="1965960" cy="47548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4572000" y="1572768"/>
            <a:ext cx="1965960" cy="292608"/>
          </a:xfrm>
          <a:prstGeom prst="rect">
            <a:avLst/>
          </a:prstGeom>
          <a:noFill/>
          <a:ln/>
        </p:spPr>
        <p:txBody>
          <a:bodyPr wrap="square" lIns="0" tIns="0" rIns="0" bIns="0"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F1-Score</a:t>
            </a:r>
            <a:endParaRPr lang="en-US" sz="1200" dirty="0"/>
          </a:p>
        </p:txBody>
      </p:sp>
      <p:sp>
        <p:nvSpPr>
          <p:cNvPr id="17" name="Text 15"/>
          <p:cNvSpPr/>
          <p:nvPr/>
        </p:nvSpPr>
        <p:spPr>
          <a:xfrm>
            <a:off x="4572000" y="1847088"/>
            <a:ext cx="1965960" cy="274320"/>
          </a:xfrm>
          <a:prstGeom prst="rect">
            <a:avLst/>
          </a:prstGeom>
          <a:noFill/>
          <a:ln/>
        </p:spPr>
        <p:txBody>
          <a:bodyPr wrap="square" lIns="0" tIns="0" rIns="0" bIns="0" rtlCol="0" anchor="ctr"/>
          <a:lstStyle/>
          <a:p>
            <a:pPr algn="ctr" indent="0" marL="0">
              <a:buNone/>
            </a:pPr>
            <a:r>
              <a:rPr lang="en-US" sz="1100" dirty="0">
                <a:solidFill>
                  <a:srgbClr val="21A0A0"/>
                </a:solidFill>
                <a:latin typeface="Calibri" pitchFamily="34" charset="0"/>
                <a:ea typeface="Calibri" pitchFamily="34" charset="-122"/>
                <a:cs typeface="Calibri" pitchFamily="34" charset="-120"/>
              </a:rPr>
              <a:t>Weighted</a:t>
            </a:r>
            <a:endParaRPr lang="en-US" sz="1100" dirty="0"/>
          </a:p>
        </p:txBody>
      </p:sp>
      <p:sp>
        <p:nvSpPr>
          <p:cNvPr id="18" name="Text 16"/>
          <p:cNvSpPr/>
          <p:nvPr/>
        </p:nvSpPr>
        <p:spPr>
          <a:xfrm>
            <a:off x="4572000" y="2121408"/>
            <a:ext cx="19659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Precision + Recall balance</a:t>
            </a:r>
            <a:endParaRPr lang="en-US" sz="900" dirty="0"/>
          </a:p>
        </p:txBody>
      </p:sp>
      <p:sp>
        <p:nvSpPr>
          <p:cNvPr id="19" name="Shape 17"/>
          <p:cNvSpPr/>
          <p:nvPr/>
        </p:nvSpPr>
        <p:spPr>
          <a:xfrm>
            <a:off x="6720840" y="1051560"/>
            <a:ext cx="1965960" cy="141732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6720840" y="1097280"/>
            <a:ext cx="1965960" cy="475488"/>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1" name="Text 19"/>
          <p:cNvSpPr/>
          <p:nvPr/>
        </p:nvSpPr>
        <p:spPr>
          <a:xfrm>
            <a:off x="6720840" y="1572768"/>
            <a:ext cx="1965960" cy="292608"/>
          </a:xfrm>
          <a:prstGeom prst="rect">
            <a:avLst/>
          </a:prstGeom>
          <a:noFill/>
          <a:ln/>
        </p:spPr>
        <p:txBody>
          <a:bodyPr wrap="square" lIns="0" tIns="0" rIns="0" bIns="0" rtlCol="0" anchor="ctr"/>
          <a:lstStyle/>
          <a:p>
            <a:pPr algn="ctr" indent="0" marL="0">
              <a:buNone/>
            </a:pPr>
            <a:r>
              <a:rPr lang="en-US" sz="1200" b="1" dirty="0">
                <a:solidFill>
                  <a:srgbClr val="1B4F72"/>
                </a:solidFill>
                <a:latin typeface="Calibri" pitchFamily="34" charset="0"/>
                <a:ea typeface="Calibri" pitchFamily="34" charset="-122"/>
                <a:cs typeface="Calibri" pitchFamily="34" charset="-120"/>
              </a:rPr>
              <a:t>Confusion</a:t>
            </a:r>
            <a:endParaRPr lang="en-US" sz="1200" dirty="0"/>
          </a:p>
        </p:txBody>
      </p:sp>
      <p:sp>
        <p:nvSpPr>
          <p:cNvPr id="22" name="Text 20"/>
          <p:cNvSpPr/>
          <p:nvPr/>
        </p:nvSpPr>
        <p:spPr>
          <a:xfrm>
            <a:off x="6720840" y="1847088"/>
            <a:ext cx="1965960" cy="274320"/>
          </a:xfrm>
          <a:prstGeom prst="rect">
            <a:avLst/>
          </a:prstGeom>
          <a:noFill/>
          <a:ln/>
        </p:spPr>
        <p:txBody>
          <a:bodyPr wrap="square" lIns="0" tIns="0" rIns="0" bIns="0" rtlCol="0" anchor="ctr"/>
          <a:lstStyle/>
          <a:p>
            <a:pPr algn="ctr" indent="0" marL="0">
              <a:buNone/>
            </a:pPr>
            <a:r>
              <a:rPr lang="en-US" sz="1100" dirty="0">
                <a:solidFill>
                  <a:srgbClr val="21A0A0"/>
                </a:solidFill>
                <a:latin typeface="Calibri" pitchFamily="34" charset="0"/>
                <a:ea typeface="Calibri" pitchFamily="34" charset="-122"/>
                <a:cs typeface="Calibri" pitchFamily="34" charset="-120"/>
              </a:rPr>
              <a:t>Matrix</a:t>
            </a:r>
            <a:endParaRPr lang="en-US" sz="1100" dirty="0"/>
          </a:p>
        </p:txBody>
      </p:sp>
      <p:sp>
        <p:nvSpPr>
          <p:cNvPr id="23" name="Text 21"/>
          <p:cNvSpPr/>
          <p:nvPr/>
        </p:nvSpPr>
        <p:spPr>
          <a:xfrm>
            <a:off x="6720840" y="2121408"/>
            <a:ext cx="19659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Normalized &amp; raw versions</a:t>
            </a:r>
            <a:endParaRPr lang="en-US" sz="900" dirty="0"/>
          </a:p>
        </p:txBody>
      </p:sp>
      <p:sp>
        <p:nvSpPr>
          <p:cNvPr id="24" name="Text 22"/>
          <p:cNvSpPr/>
          <p:nvPr/>
        </p:nvSpPr>
        <p:spPr>
          <a:xfrm>
            <a:off x="457200" y="2651760"/>
            <a:ext cx="8229600" cy="365760"/>
          </a:xfrm>
          <a:prstGeom prst="rect">
            <a:avLst/>
          </a:prstGeom>
          <a:noFill/>
          <a:ln/>
        </p:spPr>
        <p:txBody>
          <a:bodyPr wrap="square" lIns="0" tIns="0" rIns="0" bIns="0" rtlCol="0" anchor="ctr"/>
          <a:lstStyle/>
          <a:p>
            <a:pPr indent="0" marL="0">
              <a:buNone/>
            </a:pPr>
            <a:r>
              <a:rPr lang="en-US" sz="1500" b="1" dirty="0">
                <a:solidFill>
                  <a:srgbClr val="1B4F72"/>
                </a:solidFill>
                <a:latin typeface="Calibri" pitchFamily="34" charset="0"/>
                <a:ea typeface="Calibri" pitchFamily="34" charset="-122"/>
                <a:cs typeface="Calibri" pitchFamily="34" charset="-120"/>
              </a:rPr>
              <a:t>Baseline Model Comparison</a:t>
            </a:r>
            <a:endParaRPr lang="en-US" sz="1500" dirty="0"/>
          </a:p>
        </p:txBody>
      </p:sp>
      <p:sp>
        <p:nvSpPr>
          <p:cNvPr id="25" name="Shape 23"/>
          <p:cNvSpPr/>
          <p:nvPr/>
        </p:nvSpPr>
        <p:spPr>
          <a:xfrm>
            <a:off x="365760" y="3063240"/>
            <a:ext cx="2560320" cy="320040"/>
          </a:xfrm>
          <a:prstGeom prst="rect">
            <a:avLst/>
          </a:prstGeom>
          <a:solidFill>
            <a:srgbClr val="1B4F72"/>
          </a:solidFill>
          <a:ln/>
        </p:spPr>
      </p:sp>
      <p:sp>
        <p:nvSpPr>
          <p:cNvPr id="26" name="Text 24"/>
          <p:cNvSpPr/>
          <p:nvPr/>
        </p:nvSpPr>
        <p:spPr>
          <a:xfrm>
            <a:off x="365760" y="3063240"/>
            <a:ext cx="25603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27" name="Shape 25"/>
          <p:cNvSpPr/>
          <p:nvPr/>
        </p:nvSpPr>
        <p:spPr>
          <a:xfrm>
            <a:off x="2926080" y="3063240"/>
            <a:ext cx="1463040" cy="320040"/>
          </a:xfrm>
          <a:prstGeom prst="rect">
            <a:avLst/>
          </a:prstGeom>
          <a:solidFill>
            <a:srgbClr val="1B4F72"/>
          </a:solidFill>
          <a:ln/>
        </p:spPr>
      </p:sp>
      <p:sp>
        <p:nvSpPr>
          <p:cNvPr id="28" name="Text 26"/>
          <p:cNvSpPr/>
          <p:nvPr/>
        </p:nvSpPr>
        <p:spPr>
          <a:xfrm>
            <a:off x="2926080" y="3063240"/>
            <a:ext cx="1463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p>
        </p:txBody>
      </p:sp>
      <p:sp>
        <p:nvSpPr>
          <p:cNvPr id="29" name="Shape 27"/>
          <p:cNvSpPr/>
          <p:nvPr/>
        </p:nvSpPr>
        <p:spPr>
          <a:xfrm>
            <a:off x="4389120" y="3063240"/>
            <a:ext cx="1463040" cy="320040"/>
          </a:xfrm>
          <a:prstGeom prst="rect">
            <a:avLst/>
          </a:prstGeom>
          <a:solidFill>
            <a:srgbClr val="1B4F72"/>
          </a:solidFill>
          <a:ln/>
        </p:spPr>
      </p:sp>
      <p:sp>
        <p:nvSpPr>
          <p:cNvPr id="30" name="Text 28"/>
          <p:cNvSpPr/>
          <p:nvPr/>
        </p:nvSpPr>
        <p:spPr>
          <a:xfrm>
            <a:off x="4389120" y="3063240"/>
            <a:ext cx="1463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p>
        </p:txBody>
      </p:sp>
      <p:sp>
        <p:nvSpPr>
          <p:cNvPr id="31" name="Shape 29"/>
          <p:cNvSpPr/>
          <p:nvPr/>
        </p:nvSpPr>
        <p:spPr>
          <a:xfrm>
            <a:off x="5852160" y="3063240"/>
            <a:ext cx="1463040" cy="320040"/>
          </a:xfrm>
          <a:prstGeom prst="rect">
            <a:avLst/>
          </a:prstGeom>
          <a:solidFill>
            <a:srgbClr val="1B4F72"/>
          </a:solidFill>
          <a:ln/>
        </p:spPr>
      </p:sp>
      <p:sp>
        <p:nvSpPr>
          <p:cNvPr id="32" name="Text 30"/>
          <p:cNvSpPr/>
          <p:nvPr/>
        </p:nvSpPr>
        <p:spPr>
          <a:xfrm>
            <a:off x="5852160" y="3063240"/>
            <a:ext cx="1463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p>
        </p:txBody>
      </p:sp>
      <p:sp>
        <p:nvSpPr>
          <p:cNvPr id="33" name="Shape 31"/>
          <p:cNvSpPr/>
          <p:nvPr/>
        </p:nvSpPr>
        <p:spPr>
          <a:xfrm>
            <a:off x="7315200" y="3063240"/>
            <a:ext cx="1463040" cy="320040"/>
          </a:xfrm>
          <a:prstGeom prst="rect">
            <a:avLst/>
          </a:prstGeom>
          <a:solidFill>
            <a:srgbClr val="1B4F72"/>
          </a:solidFill>
          <a:ln/>
        </p:spPr>
      </p:sp>
      <p:sp>
        <p:nvSpPr>
          <p:cNvPr id="34" name="Text 32"/>
          <p:cNvSpPr/>
          <p:nvPr/>
        </p:nvSpPr>
        <p:spPr>
          <a:xfrm>
            <a:off x="7315200" y="3063240"/>
            <a:ext cx="1463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F1-Score</a:t>
            </a:r>
            <a:endParaRPr lang="en-US" sz="1100" dirty="0"/>
          </a:p>
        </p:txBody>
      </p:sp>
      <p:sp>
        <p:nvSpPr>
          <p:cNvPr id="35" name="Shape 33"/>
          <p:cNvSpPr/>
          <p:nvPr/>
        </p:nvSpPr>
        <p:spPr>
          <a:xfrm>
            <a:off x="365760" y="3383280"/>
            <a:ext cx="2560320" cy="347472"/>
          </a:xfrm>
          <a:prstGeom prst="rect">
            <a:avLst/>
          </a:prstGeom>
          <a:solidFill>
            <a:srgbClr val="FFFFFF"/>
          </a:solidFill>
          <a:ln w="12700">
            <a:solidFill>
              <a:srgbClr val="E2E8F0"/>
            </a:solidFill>
            <a:prstDash val="solid"/>
          </a:ln>
        </p:spPr>
      </p:sp>
      <p:sp>
        <p:nvSpPr>
          <p:cNvPr id="36" name="Text 34"/>
          <p:cNvSpPr/>
          <p:nvPr/>
        </p:nvSpPr>
        <p:spPr>
          <a:xfrm>
            <a:off x="365760" y="3383280"/>
            <a:ext cx="256032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Logistic Regression</a:t>
            </a:r>
            <a:endParaRPr lang="en-US" sz="1100" dirty="0"/>
          </a:p>
        </p:txBody>
      </p:sp>
      <p:sp>
        <p:nvSpPr>
          <p:cNvPr id="37" name="Shape 35"/>
          <p:cNvSpPr/>
          <p:nvPr/>
        </p:nvSpPr>
        <p:spPr>
          <a:xfrm>
            <a:off x="2926080" y="3383280"/>
            <a:ext cx="1463040" cy="347472"/>
          </a:xfrm>
          <a:prstGeom prst="rect">
            <a:avLst/>
          </a:prstGeom>
          <a:solidFill>
            <a:srgbClr val="FFFFFF"/>
          </a:solidFill>
          <a:ln w="12700">
            <a:solidFill>
              <a:srgbClr val="E2E8F0"/>
            </a:solidFill>
            <a:prstDash val="solid"/>
          </a:ln>
        </p:spPr>
      </p:sp>
      <p:sp>
        <p:nvSpPr>
          <p:cNvPr id="38" name="Text 36"/>
          <p:cNvSpPr/>
          <p:nvPr/>
        </p:nvSpPr>
        <p:spPr>
          <a:xfrm>
            <a:off x="2926080" y="338328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~58%</a:t>
            </a:r>
            <a:endParaRPr lang="en-US" sz="1100" dirty="0"/>
          </a:p>
        </p:txBody>
      </p:sp>
      <p:sp>
        <p:nvSpPr>
          <p:cNvPr id="39" name="Shape 37"/>
          <p:cNvSpPr/>
          <p:nvPr/>
        </p:nvSpPr>
        <p:spPr>
          <a:xfrm>
            <a:off x="4389120" y="3383280"/>
            <a:ext cx="1463040" cy="347472"/>
          </a:xfrm>
          <a:prstGeom prst="rect">
            <a:avLst/>
          </a:prstGeom>
          <a:solidFill>
            <a:srgbClr val="FFFFFF"/>
          </a:solidFill>
          <a:ln w="12700">
            <a:solidFill>
              <a:srgbClr val="E2E8F0"/>
            </a:solidFill>
            <a:prstDash val="solid"/>
          </a:ln>
        </p:spPr>
      </p:sp>
      <p:sp>
        <p:nvSpPr>
          <p:cNvPr id="40" name="Text 38"/>
          <p:cNvSpPr/>
          <p:nvPr/>
        </p:nvSpPr>
        <p:spPr>
          <a:xfrm>
            <a:off x="4389120" y="338328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~55%</a:t>
            </a:r>
            <a:endParaRPr lang="en-US" sz="1100" dirty="0"/>
          </a:p>
        </p:txBody>
      </p:sp>
      <p:sp>
        <p:nvSpPr>
          <p:cNvPr id="41" name="Shape 39"/>
          <p:cNvSpPr/>
          <p:nvPr/>
        </p:nvSpPr>
        <p:spPr>
          <a:xfrm>
            <a:off x="5852160" y="3383280"/>
            <a:ext cx="1463040" cy="347472"/>
          </a:xfrm>
          <a:prstGeom prst="rect">
            <a:avLst/>
          </a:prstGeom>
          <a:solidFill>
            <a:srgbClr val="FFFFFF"/>
          </a:solidFill>
          <a:ln w="12700">
            <a:solidFill>
              <a:srgbClr val="E2E8F0"/>
            </a:solidFill>
            <a:prstDash val="solid"/>
          </a:ln>
        </p:spPr>
      </p:sp>
      <p:sp>
        <p:nvSpPr>
          <p:cNvPr id="42" name="Text 40"/>
          <p:cNvSpPr/>
          <p:nvPr/>
        </p:nvSpPr>
        <p:spPr>
          <a:xfrm>
            <a:off x="5852160" y="338328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~58%</a:t>
            </a:r>
            <a:endParaRPr lang="en-US" sz="1100" dirty="0"/>
          </a:p>
        </p:txBody>
      </p:sp>
      <p:sp>
        <p:nvSpPr>
          <p:cNvPr id="43" name="Shape 41"/>
          <p:cNvSpPr/>
          <p:nvPr/>
        </p:nvSpPr>
        <p:spPr>
          <a:xfrm>
            <a:off x="7315200" y="3383280"/>
            <a:ext cx="1463040" cy="347472"/>
          </a:xfrm>
          <a:prstGeom prst="rect">
            <a:avLst/>
          </a:prstGeom>
          <a:solidFill>
            <a:srgbClr val="FFFFFF"/>
          </a:solidFill>
          <a:ln w="12700">
            <a:solidFill>
              <a:srgbClr val="E2E8F0"/>
            </a:solidFill>
            <a:prstDash val="solid"/>
          </a:ln>
        </p:spPr>
      </p:sp>
      <p:sp>
        <p:nvSpPr>
          <p:cNvPr id="44" name="Text 42"/>
          <p:cNvSpPr/>
          <p:nvPr/>
        </p:nvSpPr>
        <p:spPr>
          <a:xfrm>
            <a:off x="7315200" y="338328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~54%</a:t>
            </a:r>
            <a:endParaRPr lang="en-US" sz="1100" dirty="0"/>
          </a:p>
        </p:txBody>
      </p:sp>
      <p:sp>
        <p:nvSpPr>
          <p:cNvPr id="45" name="Shape 43"/>
          <p:cNvSpPr/>
          <p:nvPr/>
        </p:nvSpPr>
        <p:spPr>
          <a:xfrm>
            <a:off x="365760" y="3749040"/>
            <a:ext cx="2560320" cy="347472"/>
          </a:xfrm>
          <a:prstGeom prst="rect">
            <a:avLst/>
          </a:prstGeom>
          <a:solidFill>
            <a:srgbClr val="F0F8FF"/>
          </a:solidFill>
          <a:ln w="12700">
            <a:solidFill>
              <a:srgbClr val="E2E8F0"/>
            </a:solidFill>
            <a:prstDash val="solid"/>
          </a:ln>
        </p:spPr>
      </p:sp>
      <p:sp>
        <p:nvSpPr>
          <p:cNvPr id="46" name="Text 44"/>
          <p:cNvSpPr/>
          <p:nvPr/>
        </p:nvSpPr>
        <p:spPr>
          <a:xfrm>
            <a:off x="365760" y="3749040"/>
            <a:ext cx="256032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Random Forest (100)</a:t>
            </a:r>
            <a:endParaRPr lang="en-US" sz="1100" dirty="0"/>
          </a:p>
        </p:txBody>
      </p:sp>
      <p:sp>
        <p:nvSpPr>
          <p:cNvPr id="47" name="Shape 45"/>
          <p:cNvSpPr/>
          <p:nvPr/>
        </p:nvSpPr>
        <p:spPr>
          <a:xfrm>
            <a:off x="2926080" y="3749040"/>
            <a:ext cx="1463040" cy="347472"/>
          </a:xfrm>
          <a:prstGeom prst="rect">
            <a:avLst/>
          </a:prstGeom>
          <a:solidFill>
            <a:srgbClr val="F0F8FF"/>
          </a:solidFill>
          <a:ln w="12700">
            <a:solidFill>
              <a:srgbClr val="E2E8F0"/>
            </a:solidFill>
            <a:prstDash val="solid"/>
          </a:ln>
        </p:spPr>
      </p:sp>
      <p:sp>
        <p:nvSpPr>
          <p:cNvPr id="48" name="Text 46"/>
          <p:cNvSpPr/>
          <p:nvPr/>
        </p:nvSpPr>
        <p:spPr>
          <a:xfrm>
            <a:off x="2926080" y="374904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~65%</a:t>
            </a:r>
            <a:endParaRPr lang="en-US" sz="1100" dirty="0"/>
          </a:p>
        </p:txBody>
      </p:sp>
      <p:sp>
        <p:nvSpPr>
          <p:cNvPr id="49" name="Shape 47"/>
          <p:cNvSpPr/>
          <p:nvPr/>
        </p:nvSpPr>
        <p:spPr>
          <a:xfrm>
            <a:off x="4389120" y="3749040"/>
            <a:ext cx="1463040" cy="347472"/>
          </a:xfrm>
          <a:prstGeom prst="rect">
            <a:avLst/>
          </a:prstGeom>
          <a:solidFill>
            <a:srgbClr val="F0F8FF"/>
          </a:solidFill>
          <a:ln w="12700">
            <a:solidFill>
              <a:srgbClr val="E2E8F0"/>
            </a:solidFill>
            <a:prstDash val="solid"/>
          </a:ln>
        </p:spPr>
      </p:sp>
      <p:sp>
        <p:nvSpPr>
          <p:cNvPr id="50" name="Text 48"/>
          <p:cNvSpPr/>
          <p:nvPr/>
        </p:nvSpPr>
        <p:spPr>
          <a:xfrm>
            <a:off x="4389120" y="374904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~62%</a:t>
            </a:r>
            <a:endParaRPr lang="en-US" sz="1100" dirty="0"/>
          </a:p>
        </p:txBody>
      </p:sp>
      <p:sp>
        <p:nvSpPr>
          <p:cNvPr id="51" name="Shape 49"/>
          <p:cNvSpPr/>
          <p:nvPr/>
        </p:nvSpPr>
        <p:spPr>
          <a:xfrm>
            <a:off x="5852160" y="3749040"/>
            <a:ext cx="1463040" cy="347472"/>
          </a:xfrm>
          <a:prstGeom prst="rect">
            <a:avLst/>
          </a:prstGeom>
          <a:solidFill>
            <a:srgbClr val="F0F8FF"/>
          </a:solidFill>
          <a:ln w="12700">
            <a:solidFill>
              <a:srgbClr val="E2E8F0"/>
            </a:solidFill>
            <a:prstDash val="solid"/>
          </a:ln>
        </p:spPr>
      </p:sp>
      <p:sp>
        <p:nvSpPr>
          <p:cNvPr id="52" name="Text 50"/>
          <p:cNvSpPr/>
          <p:nvPr/>
        </p:nvSpPr>
        <p:spPr>
          <a:xfrm>
            <a:off x="5852160" y="374904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~65%</a:t>
            </a:r>
            <a:endParaRPr lang="en-US" sz="1100" dirty="0"/>
          </a:p>
        </p:txBody>
      </p:sp>
      <p:sp>
        <p:nvSpPr>
          <p:cNvPr id="53" name="Shape 51"/>
          <p:cNvSpPr/>
          <p:nvPr/>
        </p:nvSpPr>
        <p:spPr>
          <a:xfrm>
            <a:off x="7315200" y="3749040"/>
            <a:ext cx="1463040" cy="347472"/>
          </a:xfrm>
          <a:prstGeom prst="rect">
            <a:avLst/>
          </a:prstGeom>
          <a:solidFill>
            <a:srgbClr val="F0F8FF"/>
          </a:solidFill>
          <a:ln w="12700">
            <a:solidFill>
              <a:srgbClr val="E2E8F0"/>
            </a:solidFill>
            <a:prstDash val="solid"/>
          </a:ln>
        </p:spPr>
      </p:sp>
      <p:sp>
        <p:nvSpPr>
          <p:cNvPr id="54" name="Text 52"/>
          <p:cNvSpPr/>
          <p:nvPr/>
        </p:nvSpPr>
        <p:spPr>
          <a:xfrm>
            <a:off x="7315200" y="374904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~61%</a:t>
            </a:r>
            <a:endParaRPr lang="en-US" sz="1100" dirty="0"/>
          </a:p>
        </p:txBody>
      </p:sp>
      <p:sp>
        <p:nvSpPr>
          <p:cNvPr id="55" name="Shape 53"/>
          <p:cNvSpPr/>
          <p:nvPr/>
        </p:nvSpPr>
        <p:spPr>
          <a:xfrm>
            <a:off x="365760" y="4114800"/>
            <a:ext cx="2560320" cy="347472"/>
          </a:xfrm>
          <a:prstGeom prst="rect">
            <a:avLst/>
          </a:prstGeom>
          <a:solidFill>
            <a:srgbClr val="FFFFFF"/>
          </a:solidFill>
          <a:ln w="12700">
            <a:solidFill>
              <a:srgbClr val="E2E8F0"/>
            </a:solidFill>
            <a:prstDash val="solid"/>
          </a:ln>
        </p:spPr>
      </p:sp>
      <p:sp>
        <p:nvSpPr>
          <p:cNvPr id="56" name="Text 54"/>
          <p:cNvSpPr/>
          <p:nvPr/>
        </p:nvSpPr>
        <p:spPr>
          <a:xfrm>
            <a:off x="365760" y="4114800"/>
            <a:ext cx="256032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K-Nearest Neighbors</a:t>
            </a:r>
            <a:endParaRPr lang="en-US" sz="1100" dirty="0"/>
          </a:p>
        </p:txBody>
      </p:sp>
      <p:sp>
        <p:nvSpPr>
          <p:cNvPr id="57" name="Shape 55"/>
          <p:cNvSpPr/>
          <p:nvPr/>
        </p:nvSpPr>
        <p:spPr>
          <a:xfrm>
            <a:off x="2926080" y="4114800"/>
            <a:ext cx="1463040" cy="347472"/>
          </a:xfrm>
          <a:prstGeom prst="rect">
            <a:avLst/>
          </a:prstGeom>
          <a:solidFill>
            <a:srgbClr val="FFFFFF"/>
          </a:solidFill>
          <a:ln w="12700">
            <a:solidFill>
              <a:srgbClr val="E2E8F0"/>
            </a:solidFill>
            <a:prstDash val="solid"/>
          </a:ln>
        </p:spPr>
      </p:sp>
      <p:sp>
        <p:nvSpPr>
          <p:cNvPr id="58" name="Text 56"/>
          <p:cNvSpPr/>
          <p:nvPr/>
        </p:nvSpPr>
        <p:spPr>
          <a:xfrm>
            <a:off x="2926080" y="411480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~55%</a:t>
            </a:r>
            <a:endParaRPr lang="en-US" sz="1100" dirty="0"/>
          </a:p>
        </p:txBody>
      </p:sp>
      <p:sp>
        <p:nvSpPr>
          <p:cNvPr id="59" name="Shape 57"/>
          <p:cNvSpPr/>
          <p:nvPr/>
        </p:nvSpPr>
        <p:spPr>
          <a:xfrm>
            <a:off x="4389120" y="4114800"/>
            <a:ext cx="1463040" cy="347472"/>
          </a:xfrm>
          <a:prstGeom prst="rect">
            <a:avLst/>
          </a:prstGeom>
          <a:solidFill>
            <a:srgbClr val="FFFFFF"/>
          </a:solidFill>
          <a:ln w="12700">
            <a:solidFill>
              <a:srgbClr val="E2E8F0"/>
            </a:solidFill>
            <a:prstDash val="solid"/>
          </a:ln>
        </p:spPr>
      </p:sp>
      <p:sp>
        <p:nvSpPr>
          <p:cNvPr id="60" name="Text 58"/>
          <p:cNvSpPr/>
          <p:nvPr/>
        </p:nvSpPr>
        <p:spPr>
          <a:xfrm>
            <a:off x="4389120" y="411480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~51%</a:t>
            </a:r>
            <a:endParaRPr lang="en-US" sz="1100" dirty="0"/>
          </a:p>
        </p:txBody>
      </p:sp>
      <p:sp>
        <p:nvSpPr>
          <p:cNvPr id="61" name="Shape 59"/>
          <p:cNvSpPr/>
          <p:nvPr/>
        </p:nvSpPr>
        <p:spPr>
          <a:xfrm>
            <a:off x="5852160" y="4114800"/>
            <a:ext cx="1463040" cy="347472"/>
          </a:xfrm>
          <a:prstGeom prst="rect">
            <a:avLst/>
          </a:prstGeom>
          <a:solidFill>
            <a:srgbClr val="FFFFFF"/>
          </a:solidFill>
          <a:ln w="12700">
            <a:solidFill>
              <a:srgbClr val="E2E8F0"/>
            </a:solidFill>
            <a:prstDash val="solid"/>
          </a:ln>
        </p:spPr>
      </p:sp>
      <p:sp>
        <p:nvSpPr>
          <p:cNvPr id="62" name="Text 60"/>
          <p:cNvSpPr/>
          <p:nvPr/>
        </p:nvSpPr>
        <p:spPr>
          <a:xfrm>
            <a:off x="5852160" y="411480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~55%</a:t>
            </a:r>
            <a:endParaRPr lang="en-US" sz="1100" dirty="0"/>
          </a:p>
        </p:txBody>
      </p:sp>
      <p:sp>
        <p:nvSpPr>
          <p:cNvPr id="63" name="Shape 61"/>
          <p:cNvSpPr/>
          <p:nvPr/>
        </p:nvSpPr>
        <p:spPr>
          <a:xfrm>
            <a:off x="7315200" y="4114800"/>
            <a:ext cx="1463040" cy="347472"/>
          </a:xfrm>
          <a:prstGeom prst="rect">
            <a:avLst/>
          </a:prstGeom>
          <a:solidFill>
            <a:srgbClr val="FFFFFF"/>
          </a:solidFill>
          <a:ln w="12700">
            <a:solidFill>
              <a:srgbClr val="E2E8F0"/>
            </a:solidFill>
            <a:prstDash val="solid"/>
          </a:ln>
        </p:spPr>
      </p:sp>
      <p:sp>
        <p:nvSpPr>
          <p:cNvPr id="64" name="Text 62"/>
          <p:cNvSpPr/>
          <p:nvPr/>
        </p:nvSpPr>
        <p:spPr>
          <a:xfrm>
            <a:off x="7315200" y="4114800"/>
            <a:ext cx="1463040" cy="34747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~49%</a:t>
            </a:r>
            <a:endParaRPr lang="en-US" sz="1100" dirty="0"/>
          </a:p>
        </p:txBody>
      </p:sp>
      <p:sp>
        <p:nvSpPr>
          <p:cNvPr id="65" name="Shape 63"/>
          <p:cNvSpPr/>
          <p:nvPr/>
        </p:nvSpPr>
        <p:spPr>
          <a:xfrm>
            <a:off x="365760" y="4480560"/>
            <a:ext cx="2560320" cy="347472"/>
          </a:xfrm>
          <a:prstGeom prst="rect">
            <a:avLst/>
          </a:prstGeom>
          <a:solidFill>
            <a:srgbClr val="E8F8F5"/>
          </a:solidFill>
          <a:ln w="12700">
            <a:solidFill>
              <a:srgbClr val="E2E8F0"/>
            </a:solidFill>
            <a:prstDash val="solid"/>
          </a:ln>
        </p:spPr>
      </p:sp>
      <p:sp>
        <p:nvSpPr>
          <p:cNvPr id="66" name="Text 64"/>
          <p:cNvSpPr/>
          <p:nvPr/>
        </p:nvSpPr>
        <p:spPr>
          <a:xfrm>
            <a:off x="365760" y="4480560"/>
            <a:ext cx="2560320" cy="347472"/>
          </a:xfrm>
          <a:prstGeom prst="rect">
            <a:avLst/>
          </a:prstGeom>
          <a:noFill/>
          <a:ln/>
        </p:spPr>
        <p:txBody>
          <a:bodyPr wrap="square" lIns="0" tIns="0" rIns="0" bIns="0" rtlCol="0" anchor="ctr"/>
          <a:lstStyle/>
          <a:p>
            <a:pPr algn="ctr" indent="0" marL="0">
              <a:buNone/>
            </a:pPr>
            <a:r>
              <a:rPr lang="en-US" sz="1100" b="1" dirty="0">
                <a:solidFill>
                  <a:srgbClr val="21A0A0"/>
                </a:solidFill>
                <a:latin typeface="Calibri" pitchFamily="34" charset="0"/>
                <a:ea typeface="Calibri" pitchFamily="34" charset="-122"/>
                <a:cs typeface="Calibri" pitchFamily="34" charset="-120"/>
              </a:rPr>
              <a:t>CNN (Ours) ⭐</a:t>
            </a:r>
            <a:endParaRPr lang="en-US" sz="1100" dirty="0"/>
          </a:p>
        </p:txBody>
      </p:sp>
      <p:sp>
        <p:nvSpPr>
          <p:cNvPr id="67" name="Shape 65"/>
          <p:cNvSpPr/>
          <p:nvPr/>
        </p:nvSpPr>
        <p:spPr>
          <a:xfrm>
            <a:off x="2926080" y="4480560"/>
            <a:ext cx="1463040" cy="347472"/>
          </a:xfrm>
          <a:prstGeom prst="rect">
            <a:avLst/>
          </a:prstGeom>
          <a:solidFill>
            <a:srgbClr val="E8F8F5"/>
          </a:solidFill>
          <a:ln w="12700">
            <a:solidFill>
              <a:srgbClr val="E2E8F0"/>
            </a:solidFill>
            <a:prstDash val="solid"/>
          </a:ln>
        </p:spPr>
      </p:sp>
      <p:sp>
        <p:nvSpPr>
          <p:cNvPr id="68" name="Text 66"/>
          <p:cNvSpPr/>
          <p:nvPr/>
        </p:nvSpPr>
        <p:spPr>
          <a:xfrm>
            <a:off x="2926080" y="4480560"/>
            <a:ext cx="1463040" cy="347472"/>
          </a:xfrm>
          <a:prstGeom prst="rect">
            <a:avLst/>
          </a:prstGeom>
          <a:noFill/>
          <a:ln/>
        </p:spPr>
        <p:txBody>
          <a:bodyPr wrap="square" lIns="0" tIns="0" rIns="0" bIns="0" rtlCol="0" anchor="ctr"/>
          <a:lstStyle/>
          <a:p>
            <a:pPr algn="ctr" indent="0" marL="0">
              <a:buNone/>
            </a:pPr>
            <a:r>
              <a:rPr lang="en-US" sz="1100" b="1" dirty="0">
                <a:solidFill>
                  <a:srgbClr val="21A0A0"/>
                </a:solidFill>
                <a:latin typeface="Calibri" pitchFamily="34" charset="0"/>
                <a:ea typeface="Calibri" pitchFamily="34" charset="-122"/>
                <a:cs typeface="Calibri" pitchFamily="34" charset="-120"/>
              </a:rPr>
              <a:t>Best</a:t>
            </a:r>
            <a:endParaRPr lang="en-US" sz="1100" dirty="0"/>
          </a:p>
        </p:txBody>
      </p:sp>
      <p:sp>
        <p:nvSpPr>
          <p:cNvPr id="69" name="Shape 67"/>
          <p:cNvSpPr/>
          <p:nvPr/>
        </p:nvSpPr>
        <p:spPr>
          <a:xfrm>
            <a:off x="4389120" y="4480560"/>
            <a:ext cx="1463040" cy="347472"/>
          </a:xfrm>
          <a:prstGeom prst="rect">
            <a:avLst/>
          </a:prstGeom>
          <a:solidFill>
            <a:srgbClr val="E8F8F5"/>
          </a:solidFill>
          <a:ln w="12700">
            <a:solidFill>
              <a:srgbClr val="E2E8F0"/>
            </a:solidFill>
            <a:prstDash val="solid"/>
          </a:ln>
        </p:spPr>
      </p:sp>
      <p:sp>
        <p:nvSpPr>
          <p:cNvPr id="70" name="Text 68"/>
          <p:cNvSpPr/>
          <p:nvPr/>
        </p:nvSpPr>
        <p:spPr>
          <a:xfrm>
            <a:off x="4389120" y="4480560"/>
            <a:ext cx="1463040" cy="347472"/>
          </a:xfrm>
          <a:prstGeom prst="rect">
            <a:avLst/>
          </a:prstGeom>
          <a:noFill/>
          <a:ln/>
        </p:spPr>
        <p:txBody>
          <a:bodyPr wrap="square" lIns="0" tIns="0" rIns="0" bIns="0" rtlCol="0" anchor="ctr"/>
          <a:lstStyle/>
          <a:p>
            <a:pPr algn="ctr" indent="0" marL="0">
              <a:buNone/>
            </a:pPr>
            <a:r>
              <a:rPr lang="en-US" sz="1100" b="1" dirty="0">
                <a:solidFill>
                  <a:srgbClr val="21A0A0"/>
                </a:solidFill>
                <a:latin typeface="Calibri" pitchFamily="34" charset="0"/>
                <a:ea typeface="Calibri" pitchFamily="34" charset="-122"/>
                <a:cs typeface="Calibri" pitchFamily="34" charset="-120"/>
              </a:rPr>
              <a:t>Best</a:t>
            </a:r>
            <a:endParaRPr lang="en-US" sz="1100" dirty="0"/>
          </a:p>
        </p:txBody>
      </p:sp>
      <p:sp>
        <p:nvSpPr>
          <p:cNvPr id="71" name="Shape 69"/>
          <p:cNvSpPr/>
          <p:nvPr/>
        </p:nvSpPr>
        <p:spPr>
          <a:xfrm>
            <a:off x="5852160" y="4480560"/>
            <a:ext cx="1463040" cy="347472"/>
          </a:xfrm>
          <a:prstGeom prst="rect">
            <a:avLst/>
          </a:prstGeom>
          <a:solidFill>
            <a:srgbClr val="E8F8F5"/>
          </a:solidFill>
          <a:ln w="12700">
            <a:solidFill>
              <a:srgbClr val="E2E8F0"/>
            </a:solidFill>
            <a:prstDash val="solid"/>
          </a:ln>
        </p:spPr>
      </p:sp>
      <p:sp>
        <p:nvSpPr>
          <p:cNvPr id="72" name="Text 70"/>
          <p:cNvSpPr/>
          <p:nvPr/>
        </p:nvSpPr>
        <p:spPr>
          <a:xfrm>
            <a:off x="5852160" y="4480560"/>
            <a:ext cx="1463040" cy="347472"/>
          </a:xfrm>
          <a:prstGeom prst="rect">
            <a:avLst/>
          </a:prstGeom>
          <a:noFill/>
          <a:ln/>
        </p:spPr>
        <p:txBody>
          <a:bodyPr wrap="square" lIns="0" tIns="0" rIns="0" bIns="0" rtlCol="0" anchor="ctr"/>
          <a:lstStyle/>
          <a:p>
            <a:pPr algn="ctr" indent="0" marL="0">
              <a:buNone/>
            </a:pPr>
            <a:r>
              <a:rPr lang="en-US" sz="1100" b="1" dirty="0">
                <a:solidFill>
                  <a:srgbClr val="21A0A0"/>
                </a:solidFill>
                <a:latin typeface="Calibri" pitchFamily="34" charset="0"/>
                <a:ea typeface="Calibri" pitchFamily="34" charset="-122"/>
                <a:cs typeface="Calibri" pitchFamily="34" charset="-120"/>
              </a:rPr>
              <a:t>Best</a:t>
            </a:r>
            <a:endParaRPr lang="en-US" sz="1100" dirty="0"/>
          </a:p>
        </p:txBody>
      </p:sp>
      <p:sp>
        <p:nvSpPr>
          <p:cNvPr id="73" name="Shape 71"/>
          <p:cNvSpPr/>
          <p:nvPr/>
        </p:nvSpPr>
        <p:spPr>
          <a:xfrm>
            <a:off x="7315200" y="4480560"/>
            <a:ext cx="1463040" cy="347472"/>
          </a:xfrm>
          <a:prstGeom prst="rect">
            <a:avLst/>
          </a:prstGeom>
          <a:solidFill>
            <a:srgbClr val="E8F8F5"/>
          </a:solidFill>
          <a:ln w="12700">
            <a:solidFill>
              <a:srgbClr val="E2E8F0"/>
            </a:solidFill>
            <a:prstDash val="solid"/>
          </a:ln>
        </p:spPr>
      </p:sp>
      <p:sp>
        <p:nvSpPr>
          <p:cNvPr id="74" name="Text 72"/>
          <p:cNvSpPr/>
          <p:nvPr/>
        </p:nvSpPr>
        <p:spPr>
          <a:xfrm>
            <a:off x="7315200" y="4480560"/>
            <a:ext cx="1463040" cy="347472"/>
          </a:xfrm>
          <a:prstGeom prst="rect">
            <a:avLst/>
          </a:prstGeom>
          <a:noFill/>
          <a:ln/>
        </p:spPr>
        <p:txBody>
          <a:bodyPr wrap="square" lIns="0" tIns="0" rIns="0" bIns="0" rtlCol="0" anchor="ctr"/>
          <a:lstStyle/>
          <a:p>
            <a:pPr algn="ctr" indent="0" marL="0">
              <a:buNone/>
            </a:pPr>
            <a:r>
              <a:rPr lang="en-US" sz="1100" b="1" dirty="0">
                <a:solidFill>
                  <a:srgbClr val="21A0A0"/>
                </a:solidFill>
                <a:latin typeface="Calibri" pitchFamily="34" charset="0"/>
                <a:ea typeface="Calibri" pitchFamily="34" charset="-122"/>
                <a:cs typeface="Calibri" pitchFamily="34" charset="-120"/>
              </a:rPr>
              <a:t>Best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Model Explainability — Grad-CAM</a:t>
            </a:r>
            <a:endParaRPr lang="en-US" sz="2600" dirty="0"/>
          </a:p>
        </p:txBody>
      </p:sp>
      <p:sp>
        <p:nvSpPr>
          <p:cNvPr id="4" name="Text 2"/>
          <p:cNvSpPr/>
          <p:nvPr/>
        </p:nvSpPr>
        <p:spPr>
          <a:xfrm>
            <a:off x="457200" y="1005840"/>
            <a:ext cx="8229600" cy="365760"/>
          </a:xfrm>
          <a:prstGeom prst="rect">
            <a:avLst/>
          </a:prstGeom>
          <a:noFill/>
          <a:ln/>
        </p:spPr>
        <p:txBody>
          <a:bodyPr wrap="square" lIns="0" tIns="0" rIns="0" bIns="0" rtlCol="0" anchor="ctr"/>
          <a:lstStyle/>
          <a:p>
            <a:pPr indent="0" marL="0">
              <a:buNone/>
            </a:pPr>
            <a:r>
              <a:rPr lang="en-US" sz="1500" b="1" dirty="0">
                <a:solidFill>
                  <a:srgbClr val="1B4F72"/>
                </a:solidFill>
                <a:latin typeface="Calibri" pitchFamily="34" charset="0"/>
                <a:ea typeface="Calibri" pitchFamily="34" charset="-122"/>
                <a:cs typeface="Calibri" pitchFamily="34" charset="-120"/>
              </a:rPr>
              <a:t>How Grad-CAM Works</a:t>
            </a:r>
            <a:endParaRPr lang="en-US" sz="1500" dirty="0"/>
          </a:p>
        </p:txBody>
      </p:sp>
      <p:sp>
        <p:nvSpPr>
          <p:cNvPr id="5" name="Shape 3"/>
          <p:cNvSpPr/>
          <p:nvPr/>
        </p:nvSpPr>
        <p:spPr>
          <a:xfrm>
            <a:off x="274320" y="1463040"/>
            <a:ext cx="1965960" cy="1554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914400" y="1508760"/>
            <a:ext cx="548640" cy="548640"/>
          </a:xfrm>
          <a:prstGeom prst="ellipse">
            <a:avLst/>
          </a:prstGeom>
          <a:solidFill>
            <a:srgbClr val="21A0A0"/>
          </a:solidFill>
          <a:ln/>
        </p:spPr>
      </p:sp>
      <p:sp>
        <p:nvSpPr>
          <p:cNvPr id="7" name="Text 5"/>
          <p:cNvSpPr/>
          <p:nvPr/>
        </p:nvSpPr>
        <p:spPr>
          <a:xfrm>
            <a:off x="91440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274320" y="2121408"/>
            <a:ext cx="196596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Feature Maps</a:t>
            </a:r>
            <a:endParaRPr lang="en-US" sz="1100" dirty="0"/>
          </a:p>
        </p:txBody>
      </p:sp>
      <p:sp>
        <p:nvSpPr>
          <p:cNvPr id="9" name="Text 7"/>
          <p:cNvSpPr/>
          <p:nvPr/>
        </p:nvSpPr>
        <p:spPr>
          <a:xfrm>
            <a:off x="365760" y="2441448"/>
            <a:ext cx="1783080" cy="50292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Extract activations from the last Conv2D layer</a:t>
            </a:r>
            <a:endParaRPr lang="en-US" sz="950" dirty="0"/>
          </a:p>
        </p:txBody>
      </p:sp>
      <p:sp>
        <p:nvSpPr>
          <p:cNvPr id="10" name="Text 8"/>
          <p:cNvSpPr/>
          <p:nvPr/>
        </p:nvSpPr>
        <p:spPr>
          <a:xfrm>
            <a:off x="2240280" y="1463040"/>
            <a:ext cx="182880" cy="1554480"/>
          </a:xfrm>
          <a:prstGeom prst="rect">
            <a:avLst/>
          </a:prstGeom>
          <a:noFill/>
          <a:ln/>
        </p:spPr>
        <p:txBody>
          <a:bodyPr wrap="square" rtlCol="0" anchor="ctr"/>
          <a:lstStyle/>
          <a:p>
            <a:pPr algn="ctr" indent="0" marL="0">
              <a:buNone/>
            </a:pPr>
            <a:r>
              <a:rPr lang="en-US" sz="1800" b="1" dirty="0">
                <a:solidFill>
                  <a:srgbClr val="1B4F72"/>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423160" y="1463040"/>
            <a:ext cx="1965960" cy="1554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063240" y="1508760"/>
            <a:ext cx="548640" cy="548640"/>
          </a:xfrm>
          <a:prstGeom prst="ellipse">
            <a:avLst/>
          </a:prstGeom>
          <a:solidFill>
            <a:srgbClr val="21A0A0"/>
          </a:solidFill>
          <a:ln/>
        </p:spPr>
      </p:sp>
      <p:sp>
        <p:nvSpPr>
          <p:cNvPr id="13" name="Text 11"/>
          <p:cNvSpPr/>
          <p:nvPr/>
        </p:nvSpPr>
        <p:spPr>
          <a:xfrm>
            <a:off x="306324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423160" y="2121408"/>
            <a:ext cx="196596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Gradients</a:t>
            </a:r>
            <a:endParaRPr lang="en-US" sz="1100" dirty="0"/>
          </a:p>
        </p:txBody>
      </p:sp>
      <p:sp>
        <p:nvSpPr>
          <p:cNvPr id="15" name="Text 13"/>
          <p:cNvSpPr/>
          <p:nvPr/>
        </p:nvSpPr>
        <p:spPr>
          <a:xfrm>
            <a:off x="2514600" y="2441448"/>
            <a:ext cx="1783080" cy="50292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Compute ∂(class score) / ∂(feature map)</a:t>
            </a:r>
            <a:endParaRPr lang="en-US" sz="950" dirty="0"/>
          </a:p>
        </p:txBody>
      </p:sp>
      <p:sp>
        <p:nvSpPr>
          <p:cNvPr id="16" name="Text 14"/>
          <p:cNvSpPr/>
          <p:nvPr/>
        </p:nvSpPr>
        <p:spPr>
          <a:xfrm>
            <a:off x="4389120" y="1463040"/>
            <a:ext cx="182880" cy="1554480"/>
          </a:xfrm>
          <a:prstGeom prst="rect">
            <a:avLst/>
          </a:prstGeom>
          <a:noFill/>
          <a:ln/>
        </p:spPr>
        <p:txBody>
          <a:bodyPr wrap="square" rtlCol="0" anchor="ctr"/>
          <a:lstStyle/>
          <a:p>
            <a:pPr algn="ctr" indent="0" marL="0">
              <a:buNone/>
            </a:pPr>
            <a:r>
              <a:rPr lang="en-US" sz="1800" b="1" dirty="0">
                <a:solidFill>
                  <a:srgbClr val="1B4F72"/>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4572000" y="1463040"/>
            <a:ext cx="1965960" cy="1554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5212080" y="1508760"/>
            <a:ext cx="548640" cy="548640"/>
          </a:xfrm>
          <a:prstGeom prst="ellipse">
            <a:avLst/>
          </a:prstGeom>
          <a:solidFill>
            <a:srgbClr val="21A0A0"/>
          </a:solidFill>
          <a:ln/>
        </p:spPr>
      </p:sp>
      <p:sp>
        <p:nvSpPr>
          <p:cNvPr id="19" name="Text 17"/>
          <p:cNvSpPr/>
          <p:nvPr/>
        </p:nvSpPr>
        <p:spPr>
          <a:xfrm>
            <a:off x="521208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4572000" y="2121408"/>
            <a:ext cx="196596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Pool &amp; Weight</a:t>
            </a:r>
            <a:endParaRPr lang="en-US" sz="1100" dirty="0"/>
          </a:p>
        </p:txBody>
      </p:sp>
      <p:sp>
        <p:nvSpPr>
          <p:cNvPr id="21" name="Text 19"/>
          <p:cNvSpPr/>
          <p:nvPr/>
        </p:nvSpPr>
        <p:spPr>
          <a:xfrm>
            <a:off x="4663440" y="2441448"/>
            <a:ext cx="1783080" cy="50292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Global-average-pool gradients → importance weights</a:t>
            </a:r>
            <a:endParaRPr lang="en-US" sz="950" dirty="0"/>
          </a:p>
        </p:txBody>
      </p:sp>
      <p:sp>
        <p:nvSpPr>
          <p:cNvPr id="22" name="Text 20"/>
          <p:cNvSpPr/>
          <p:nvPr/>
        </p:nvSpPr>
        <p:spPr>
          <a:xfrm>
            <a:off x="6537960" y="1463040"/>
            <a:ext cx="182880" cy="1554480"/>
          </a:xfrm>
          <a:prstGeom prst="rect">
            <a:avLst/>
          </a:prstGeom>
          <a:noFill/>
          <a:ln/>
        </p:spPr>
        <p:txBody>
          <a:bodyPr wrap="square" rtlCol="0" anchor="ctr"/>
          <a:lstStyle/>
          <a:p>
            <a:pPr algn="ctr" indent="0" marL="0">
              <a:buNone/>
            </a:pPr>
            <a:r>
              <a:rPr lang="en-US" sz="1800" b="1" dirty="0">
                <a:solidFill>
                  <a:srgbClr val="1B4F72"/>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720840" y="1463040"/>
            <a:ext cx="1965960" cy="1554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7360920" y="1508760"/>
            <a:ext cx="548640" cy="548640"/>
          </a:xfrm>
          <a:prstGeom prst="ellipse">
            <a:avLst/>
          </a:prstGeom>
          <a:solidFill>
            <a:srgbClr val="21A0A0"/>
          </a:solidFill>
          <a:ln/>
        </p:spPr>
      </p:sp>
      <p:sp>
        <p:nvSpPr>
          <p:cNvPr id="25" name="Text 23"/>
          <p:cNvSpPr/>
          <p:nvPr/>
        </p:nvSpPr>
        <p:spPr>
          <a:xfrm>
            <a:off x="736092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6720840" y="2121408"/>
            <a:ext cx="196596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Heatmap</a:t>
            </a:r>
            <a:endParaRPr lang="en-US" sz="1100" dirty="0"/>
          </a:p>
        </p:txBody>
      </p:sp>
      <p:sp>
        <p:nvSpPr>
          <p:cNvPr id="27" name="Text 25"/>
          <p:cNvSpPr/>
          <p:nvPr/>
        </p:nvSpPr>
        <p:spPr>
          <a:xfrm>
            <a:off x="6812280" y="2441448"/>
            <a:ext cx="1783080" cy="50292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Weighted sum of maps → ReLU → overlay on image</a:t>
            </a:r>
            <a:endParaRPr lang="en-US" sz="950" dirty="0"/>
          </a:p>
        </p:txBody>
      </p:sp>
      <p:sp>
        <p:nvSpPr>
          <p:cNvPr id="28" name="Shape 26"/>
          <p:cNvSpPr/>
          <p:nvPr/>
        </p:nvSpPr>
        <p:spPr>
          <a:xfrm>
            <a:off x="274320" y="3200400"/>
            <a:ext cx="8595360" cy="1691640"/>
          </a:xfrm>
          <a:prstGeom prst="rect">
            <a:avLst/>
          </a:prstGeom>
          <a:solidFill>
            <a:srgbClr val="F0FFF4"/>
          </a:solidFill>
          <a:ln w="12700">
            <a:solidFill>
              <a:srgbClr val="27AE60"/>
            </a:solidFill>
            <a:prstDash val="solid"/>
          </a:ln>
          <a:effectLst>
            <a:outerShdw sx="100000" sy="100000" kx="0" ky="0" algn="bl" rotWithShape="0" blurRad="101600" dist="38100" dir="8100000">
              <a:srgbClr val="000000">
                <a:alpha val="12000"/>
              </a:srgbClr>
            </a:outerShdw>
          </a:effectLst>
        </p:spPr>
      </p:sp>
      <p:sp>
        <p:nvSpPr>
          <p:cNvPr id="29" name="Text 27"/>
          <p:cNvSpPr/>
          <p:nvPr/>
        </p:nvSpPr>
        <p:spPr>
          <a:xfrm>
            <a:off x="548640" y="3273552"/>
            <a:ext cx="8046720" cy="347472"/>
          </a:xfrm>
          <a:prstGeom prst="rect">
            <a:avLst/>
          </a:prstGeom>
          <a:noFill/>
          <a:ln/>
        </p:spPr>
        <p:txBody>
          <a:bodyPr wrap="square" rtlCol="0" anchor="ctr"/>
          <a:lstStyle/>
          <a:p>
            <a:pPr indent="0" marL="0">
              <a:buNone/>
            </a:pPr>
            <a:r>
              <a:rPr lang="en-US" sz="1300" b="1" dirty="0">
                <a:solidFill>
                  <a:srgbClr val="1B4F72"/>
                </a:solidFill>
                <a:latin typeface="Calibri" pitchFamily="34" charset="0"/>
                <a:ea typeface="Calibri" pitchFamily="34" charset="-122"/>
                <a:cs typeface="Calibri" pitchFamily="34" charset="-120"/>
              </a:rPr>
              <a:t>What Grad-CAM Shows in This Project</a:t>
            </a:r>
            <a:endParaRPr lang="en-US" sz="1300" dirty="0"/>
          </a:p>
        </p:txBody>
      </p:sp>
      <p:sp>
        <p:nvSpPr>
          <p:cNvPr id="30" name="Text 28"/>
          <p:cNvSpPr/>
          <p:nvPr/>
        </p:nvSpPr>
        <p:spPr>
          <a:xfrm>
            <a:off x="548640" y="3639312"/>
            <a:ext cx="804672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For each of the 7 classes, heatmaps highlight the pixel regions most influential in the model's prediction</a:t>
            </a:r>
            <a:endParaRPr lang="en-US" sz="1100" dirty="0"/>
          </a:p>
        </p:txBody>
      </p:sp>
      <p:sp>
        <p:nvSpPr>
          <p:cNvPr id="31" name="Text 29"/>
          <p:cNvSpPr/>
          <p:nvPr/>
        </p:nvSpPr>
        <p:spPr>
          <a:xfrm>
            <a:off x="548640" y="4023360"/>
            <a:ext cx="804672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Intermediate heatmap overlaid on original image shows where the CNN "looks" — enabling clinical interpretation</a:t>
            </a:r>
            <a:endParaRPr lang="en-US" sz="1100" dirty="0"/>
          </a:p>
        </p:txBody>
      </p:sp>
      <p:sp>
        <p:nvSpPr>
          <p:cNvPr id="32" name="Text 30"/>
          <p:cNvSpPr/>
          <p:nvPr/>
        </p:nvSpPr>
        <p:spPr>
          <a:xfrm>
            <a:off x="548640" y="4407408"/>
            <a:ext cx="804672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Helps identify whether the model focuses on the lesion itself or spurious background features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457200" y="0"/>
            <a:ext cx="8229600" cy="9144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Streamlit Web Application</a:t>
            </a:r>
            <a:endParaRPr lang="en-US" sz="2600" dirty="0"/>
          </a:p>
        </p:txBody>
      </p:sp>
      <p:sp>
        <p:nvSpPr>
          <p:cNvPr id="4" name="Shape 2"/>
          <p:cNvSpPr/>
          <p:nvPr/>
        </p:nvSpPr>
        <p:spPr>
          <a:xfrm>
            <a:off x="274320" y="1005840"/>
            <a:ext cx="5486400" cy="3840480"/>
          </a:xfrm>
          <a:prstGeom prst="rect">
            <a:avLst/>
          </a:prstGeom>
          <a:solidFill>
            <a:srgbClr val="F8FAFC"/>
          </a:solidFill>
          <a:ln w="19050">
            <a:solidFill>
              <a:srgbClr val="E2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005840"/>
            <a:ext cx="5486400" cy="438912"/>
          </a:xfrm>
          <a:prstGeom prst="rect">
            <a:avLst/>
          </a:prstGeom>
          <a:solidFill>
            <a:srgbClr val="1B4F72"/>
          </a:solidFill>
          <a:ln/>
        </p:spPr>
      </p:sp>
      <p:sp>
        <p:nvSpPr>
          <p:cNvPr id="6" name="Text 4"/>
          <p:cNvSpPr/>
          <p:nvPr/>
        </p:nvSpPr>
        <p:spPr>
          <a:xfrm>
            <a:off x="365760" y="1005840"/>
            <a:ext cx="530352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Skin Cancer Classification System</a:t>
            </a:r>
            <a:endParaRPr lang="en-US" sz="1200" dirty="0"/>
          </a:p>
        </p:txBody>
      </p:sp>
      <p:sp>
        <p:nvSpPr>
          <p:cNvPr id="7" name="Text 5"/>
          <p:cNvSpPr/>
          <p:nvPr/>
        </p:nvSpPr>
        <p:spPr>
          <a:xfrm>
            <a:off x="457200" y="1554480"/>
            <a:ext cx="256032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Upload Image</a:t>
            </a:r>
            <a:endParaRPr lang="en-US" sz="1100" dirty="0"/>
          </a:p>
        </p:txBody>
      </p:sp>
      <p:sp>
        <p:nvSpPr>
          <p:cNvPr id="8" name="Shape 6"/>
          <p:cNvSpPr/>
          <p:nvPr/>
        </p:nvSpPr>
        <p:spPr>
          <a:xfrm>
            <a:off x="457200" y="1874520"/>
            <a:ext cx="2286000" cy="1463040"/>
          </a:xfrm>
          <a:prstGeom prst="rect">
            <a:avLst/>
          </a:prstGeom>
          <a:solidFill>
            <a:srgbClr val="E2E8F0"/>
          </a:solidFill>
          <a:ln w="12700">
            <a:solidFill>
              <a:srgbClr val="AAAAAA"/>
            </a:solidFill>
            <a:prstDash val="solid"/>
          </a:ln>
        </p:spPr>
      </p:sp>
      <p:sp>
        <p:nvSpPr>
          <p:cNvPr id="9" name="Text 7"/>
          <p:cNvSpPr/>
          <p:nvPr/>
        </p:nvSpPr>
        <p:spPr>
          <a:xfrm>
            <a:off x="457200" y="1874520"/>
            <a:ext cx="2286000" cy="1463040"/>
          </a:xfrm>
          <a:prstGeom prst="rect">
            <a:avLst/>
          </a:prstGeom>
          <a:noFill/>
          <a:ln/>
        </p:spPr>
        <p:txBody>
          <a:bodyPr wrap="square" rtlCol="0" anchor="ctr"/>
          <a:lstStyle/>
          <a:p>
            <a:pPr algn="ctr" indent="0" marL="0">
              <a:buNone/>
            </a:pPr>
            <a:r>
              <a:rPr lang="en-US" sz="1000" dirty="0">
                <a:solidFill>
                  <a:srgbClr val="64748B"/>
                </a:solidFill>
              </a:rPr>
              <a:t>[ Choose JPG/PNG ]</a:t>
            </a:r>
            <a:endParaRPr lang="en-US" sz="1000" dirty="0"/>
          </a:p>
        </p:txBody>
      </p:sp>
      <p:sp>
        <p:nvSpPr>
          <p:cNvPr id="10" name="Text 8"/>
          <p:cNvSpPr/>
          <p:nvPr/>
        </p:nvSpPr>
        <p:spPr>
          <a:xfrm>
            <a:off x="3200400" y="1554480"/>
            <a:ext cx="2377440" cy="29260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Analysis Results</a:t>
            </a:r>
            <a:endParaRPr lang="en-US" sz="1100" dirty="0"/>
          </a:p>
        </p:txBody>
      </p:sp>
      <p:sp>
        <p:nvSpPr>
          <p:cNvPr id="11" name="Text 9"/>
          <p:cNvSpPr/>
          <p:nvPr/>
        </p:nvSpPr>
        <p:spPr>
          <a:xfrm>
            <a:off x="3200400" y="1920240"/>
            <a:ext cx="2377440" cy="32004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Melanoma</a:t>
            </a:r>
            <a:endParaRPr lang="en-US" sz="1300" dirty="0"/>
          </a:p>
        </p:txBody>
      </p:sp>
      <p:sp>
        <p:nvSpPr>
          <p:cNvPr id="12" name="Text 10"/>
          <p:cNvSpPr/>
          <p:nvPr/>
        </p:nvSpPr>
        <p:spPr>
          <a:xfrm>
            <a:off x="3200400" y="2240280"/>
            <a:ext cx="2377440" cy="27432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Confidence: 87.4%</a:t>
            </a:r>
            <a:endParaRPr lang="en-US" sz="1100" dirty="0"/>
          </a:p>
        </p:txBody>
      </p:sp>
      <p:sp>
        <p:nvSpPr>
          <p:cNvPr id="13" name="Shape 11"/>
          <p:cNvSpPr/>
          <p:nvPr/>
        </p:nvSpPr>
        <p:spPr>
          <a:xfrm>
            <a:off x="3200400" y="2560320"/>
            <a:ext cx="2377440" cy="201168"/>
          </a:xfrm>
          <a:prstGeom prst="rect">
            <a:avLst/>
          </a:prstGeom>
          <a:solidFill>
            <a:srgbClr val="E2E8F0"/>
          </a:solidFill>
          <a:ln/>
        </p:spPr>
      </p:sp>
      <p:sp>
        <p:nvSpPr>
          <p:cNvPr id="14" name="Shape 12"/>
          <p:cNvSpPr/>
          <p:nvPr/>
        </p:nvSpPr>
        <p:spPr>
          <a:xfrm>
            <a:off x="3200400" y="2560320"/>
            <a:ext cx="2075688" cy="201168"/>
          </a:xfrm>
          <a:prstGeom prst="rect">
            <a:avLst/>
          </a:prstGeom>
          <a:solidFill>
            <a:srgbClr val="C0392B"/>
          </a:solidFill>
          <a:ln/>
        </p:spPr>
      </p:sp>
      <p:sp>
        <p:nvSpPr>
          <p:cNvPr id="15" name="Shape 13"/>
          <p:cNvSpPr/>
          <p:nvPr/>
        </p:nvSpPr>
        <p:spPr>
          <a:xfrm>
            <a:off x="3200400" y="2834640"/>
            <a:ext cx="2377440" cy="475488"/>
          </a:xfrm>
          <a:prstGeom prst="rect">
            <a:avLst/>
          </a:prstGeom>
          <a:solidFill>
            <a:srgbClr val="FEE2E2"/>
          </a:solidFill>
          <a:ln w="12700">
            <a:solidFill>
              <a:srgbClr val="C0392B"/>
            </a:solidFill>
            <a:prstDash val="solid"/>
          </a:ln>
        </p:spPr>
      </p:sp>
      <p:sp>
        <p:nvSpPr>
          <p:cNvPr id="16" name="Text 14"/>
          <p:cNvSpPr/>
          <p:nvPr/>
        </p:nvSpPr>
        <p:spPr>
          <a:xfrm>
            <a:off x="3246120" y="2834640"/>
            <a:ext cx="2286000" cy="475488"/>
          </a:xfrm>
          <a:prstGeom prst="rect">
            <a:avLst/>
          </a:prstGeom>
          <a:noFill/>
          <a:ln/>
        </p:spPr>
        <p:txBody>
          <a:bodyPr wrap="square" rtlCol="0" anchor="ctr"/>
          <a:lstStyle/>
          <a:p>
            <a:pPr indent="0" marL="0">
              <a:buNone/>
            </a:pPr>
            <a:r>
              <a:rPr lang="en-US" sz="900" dirty="0">
                <a:solidFill>
                  <a:srgbClr val="C0392B"/>
                </a:solidFill>
                <a:latin typeface="Calibri" pitchFamily="34" charset="0"/>
                <a:ea typeface="Calibri" pitchFamily="34" charset="-122"/>
                <a:cs typeface="Calibri" pitchFamily="34" charset="-120"/>
              </a:rPr>
              <a:t>⚠️ Potentially malignant — consult a dermatologist</a:t>
            </a:r>
            <a:endParaRPr lang="en-US" sz="900" dirty="0"/>
          </a:p>
        </p:txBody>
      </p:sp>
      <p:sp>
        <p:nvSpPr>
          <p:cNvPr id="17" name="Text 15"/>
          <p:cNvSpPr/>
          <p:nvPr/>
        </p:nvSpPr>
        <p:spPr>
          <a:xfrm>
            <a:off x="457200" y="3401568"/>
            <a:ext cx="5120640" cy="274320"/>
          </a:xfrm>
          <a:prstGeom prst="rect">
            <a:avLst/>
          </a:prstGeom>
          <a:noFill/>
          <a:ln/>
        </p:spPr>
        <p:txBody>
          <a:bodyPr wrap="square"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 All Class Probabilities</a:t>
            </a:r>
            <a:endParaRPr lang="en-US" sz="1000" dirty="0"/>
          </a:p>
        </p:txBody>
      </p:sp>
      <p:sp>
        <p:nvSpPr>
          <p:cNvPr id="18" name="Text 16"/>
          <p:cNvSpPr/>
          <p:nvPr/>
        </p:nvSpPr>
        <p:spPr>
          <a:xfrm>
            <a:off x="457200" y="3730752"/>
            <a:ext cx="457200" cy="237744"/>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mel</a:t>
            </a:r>
            <a:endParaRPr lang="en-US" sz="900" dirty="0"/>
          </a:p>
        </p:txBody>
      </p:sp>
      <p:sp>
        <p:nvSpPr>
          <p:cNvPr id="19" name="Shape 17"/>
          <p:cNvSpPr/>
          <p:nvPr/>
        </p:nvSpPr>
        <p:spPr>
          <a:xfrm>
            <a:off x="960120" y="3758184"/>
            <a:ext cx="4206240" cy="182880"/>
          </a:xfrm>
          <a:prstGeom prst="rect">
            <a:avLst/>
          </a:prstGeom>
          <a:solidFill>
            <a:srgbClr val="E2E8F0"/>
          </a:solidFill>
          <a:ln/>
        </p:spPr>
      </p:sp>
      <p:sp>
        <p:nvSpPr>
          <p:cNvPr id="20" name="Shape 18"/>
          <p:cNvSpPr/>
          <p:nvPr/>
        </p:nvSpPr>
        <p:spPr>
          <a:xfrm>
            <a:off x="960120" y="3758184"/>
            <a:ext cx="3659429" cy="182880"/>
          </a:xfrm>
          <a:prstGeom prst="rect">
            <a:avLst/>
          </a:prstGeom>
          <a:solidFill>
            <a:srgbClr val="C0392B"/>
          </a:solidFill>
          <a:ln/>
        </p:spPr>
      </p:sp>
      <p:sp>
        <p:nvSpPr>
          <p:cNvPr id="21" name="Text 19"/>
          <p:cNvSpPr/>
          <p:nvPr/>
        </p:nvSpPr>
        <p:spPr>
          <a:xfrm>
            <a:off x="5212080" y="3730752"/>
            <a:ext cx="365760" cy="237744"/>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87%</a:t>
            </a:r>
            <a:endParaRPr lang="en-US" sz="900" dirty="0"/>
          </a:p>
        </p:txBody>
      </p:sp>
      <p:sp>
        <p:nvSpPr>
          <p:cNvPr id="22" name="Text 20"/>
          <p:cNvSpPr/>
          <p:nvPr/>
        </p:nvSpPr>
        <p:spPr>
          <a:xfrm>
            <a:off x="457200" y="4005072"/>
            <a:ext cx="457200" cy="237744"/>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bcc</a:t>
            </a:r>
            <a:endParaRPr lang="en-US" sz="900" dirty="0"/>
          </a:p>
        </p:txBody>
      </p:sp>
      <p:sp>
        <p:nvSpPr>
          <p:cNvPr id="23" name="Shape 21"/>
          <p:cNvSpPr/>
          <p:nvPr/>
        </p:nvSpPr>
        <p:spPr>
          <a:xfrm>
            <a:off x="960120" y="4032504"/>
            <a:ext cx="4206240" cy="182880"/>
          </a:xfrm>
          <a:prstGeom prst="rect">
            <a:avLst/>
          </a:prstGeom>
          <a:solidFill>
            <a:srgbClr val="E2E8F0"/>
          </a:solidFill>
          <a:ln/>
        </p:spPr>
      </p:sp>
      <p:sp>
        <p:nvSpPr>
          <p:cNvPr id="24" name="Shape 22"/>
          <p:cNvSpPr/>
          <p:nvPr/>
        </p:nvSpPr>
        <p:spPr>
          <a:xfrm>
            <a:off x="960120" y="4032504"/>
            <a:ext cx="294437" cy="182880"/>
          </a:xfrm>
          <a:prstGeom prst="rect">
            <a:avLst/>
          </a:prstGeom>
          <a:solidFill>
            <a:srgbClr val="E67E22"/>
          </a:solidFill>
          <a:ln/>
        </p:spPr>
      </p:sp>
      <p:sp>
        <p:nvSpPr>
          <p:cNvPr id="25" name="Text 23"/>
          <p:cNvSpPr/>
          <p:nvPr/>
        </p:nvSpPr>
        <p:spPr>
          <a:xfrm>
            <a:off x="5212080" y="4005072"/>
            <a:ext cx="365760" cy="237744"/>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7%</a:t>
            </a:r>
            <a:endParaRPr lang="en-US" sz="900" dirty="0"/>
          </a:p>
        </p:txBody>
      </p:sp>
      <p:sp>
        <p:nvSpPr>
          <p:cNvPr id="26" name="Text 24"/>
          <p:cNvSpPr/>
          <p:nvPr/>
        </p:nvSpPr>
        <p:spPr>
          <a:xfrm>
            <a:off x="457200" y="4279392"/>
            <a:ext cx="457200" cy="237744"/>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nv</a:t>
            </a:r>
            <a:endParaRPr lang="en-US" sz="900" dirty="0"/>
          </a:p>
        </p:txBody>
      </p:sp>
      <p:sp>
        <p:nvSpPr>
          <p:cNvPr id="27" name="Shape 25"/>
          <p:cNvSpPr/>
          <p:nvPr/>
        </p:nvSpPr>
        <p:spPr>
          <a:xfrm>
            <a:off x="960120" y="4306824"/>
            <a:ext cx="4206240" cy="182880"/>
          </a:xfrm>
          <a:prstGeom prst="rect">
            <a:avLst/>
          </a:prstGeom>
          <a:solidFill>
            <a:srgbClr val="E2E8F0"/>
          </a:solidFill>
          <a:ln/>
        </p:spPr>
      </p:sp>
      <p:sp>
        <p:nvSpPr>
          <p:cNvPr id="28" name="Shape 26"/>
          <p:cNvSpPr/>
          <p:nvPr/>
        </p:nvSpPr>
        <p:spPr>
          <a:xfrm>
            <a:off x="960120" y="4306824"/>
            <a:ext cx="168250" cy="182880"/>
          </a:xfrm>
          <a:prstGeom prst="rect">
            <a:avLst/>
          </a:prstGeom>
          <a:solidFill>
            <a:srgbClr val="27AE60"/>
          </a:solidFill>
          <a:ln/>
        </p:spPr>
      </p:sp>
      <p:sp>
        <p:nvSpPr>
          <p:cNvPr id="29" name="Text 27"/>
          <p:cNvSpPr/>
          <p:nvPr/>
        </p:nvSpPr>
        <p:spPr>
          <a:xfrm>
            <a:off x="5212080" y="4279392"/>
            <a:ext cx="365760" cy="237744"/>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4%</a:t>
            </a:r>
            <a:endParaRPr lang="en-US" sz="900" dirty="0"/>
          </a:p>
        </p:txBody>
      </p:sp>
      <p:sp>
        <p:nvSpPr>
          <p:cNvPr id="30" name="Shape 28"/>
          <p:cNvSpPr/>
          <p:nvPr/>
        </p:nvSpPr>
        <p:spPr>
          <a:xfrm>
            <a:off x="6035040" y="1005840"/>
            <a:ext cx="2834640" cy="3840480"/>
          </a:xfrm>
          <a:prstGeom prst="rect">
            <a:avLst/>
          </a:prstGeom>
          <a:solidFill>
            <a:srgbClr val="E8F4F8"/>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Text 29"/>
          <p:cNvSpPr/>
          <p:nvPr/>
        </p:nvSpPr>
        <p:spPr>
          <a:xfrm>
            <a:off x="6172200" y="1078992"/>
            <a:ext cx="2560320" cy="365760"/>
          </a:xfrm>
          <a:prstGeom prst="rect">
            <a:avLst/>
          </a:prstGeom>
          <a:noFill/>
          <a:ln/>
        </p:spPr>
        <p:txBody>
          <a:bodyPr wrap="square" rtlCol="0" anchor="ctr"/>
          <a:lstStyle/>
          <a:p>
            <a:pPr indent="0" marL="0">
              <a:buNone/>
            </a:pPr>
            <a:r>
              <a:rPr lang="en-US" sz="1400" b="1" dirty="0">
                <a:solidFill>
                  <a:srgbClr val="1B4F72"/>
                </a:solidFill>
                <a:latin typeface="Calibri" pitchFamily="34" charset="0"/>
                <a:ea typeface="Calibri" pitchFamily="34" charset="-122"/>
                <a:cs typeface="Calibri" pitchFamily="34" charset="-120"/>
              </a:rPr>
              <a:t>App Features</a:t>
            </a:r>
            <a:endParaRPr lang="en-US" sz="1400" dirty="0"/>
          </a:p>
        </p:txBody>
      </p:sp>
      <p:sp>
        <p:nvSpPr>
          <p:cNvPr id="32" name="Text 30"/>
          <p:cNvSpPr/>
          <p:nvPr/>
        </p:nvSpPr>
        <p:spPr>
          <a:xfrm>
            <a:off x="6172200" y="1508760"/>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Upload JPG/PNG images</a:t>
            </a:r>
            <a:endParaRPr lang="en-US" sz="1050" dirty="0"/>
          </a:p>
        </p:txBody>
      </p:sp>
      <p:sp>
        <p:nvSpPr>
          <p:cNvPr id="33" name="Text 31"/>
          <p:cNvSpPr/>
          <p:nvPr/>
        </p:nvSpPr>
        <p:spPr>
          <a:xfrm>
            <a:off x="6172200" y="1911096"/>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CNN-powered prediction</a:t>
            </a:r>
            <a:endParaRPr lang="en-US" sz="1050" dirty="0"/>
          </a:p>
        </p:txBody>
      </p:sp>
      <p:sp>
        <p:nvSpPr>
          <p:cNvPr id="34" name="Text 32"/>
          <p:cNvSpPr/>
          <p:nvPr/>
        </p:nvSpPr>
        <p:spPr>
          <a:xfrm>
            <a:off x="6172200" y="2313432"/>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Full probability breakdown</a:t>
            </a:r>
            <a:endParaRPr lang="en-US" sz="1050" dirty="0"/>
          </a:p>
        </p:txBody>
      </p:sp>
      <p:sp>
        <p:nvSpPr>
          <p:cNvPr id="35" name="Text 33"/>
          <p:cNvSpPr/>
          <p:nvPr/>
        </p:nvSpPr>
        <p:spPr>
          <a:xfrm>
            <a:off x="6172200" y="2715768"/>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Malignant / Pre-malignant alerts</a:t>
            </a:r>
            <a:endParaRPr lang="en-US" sz="1050" dirty="0"/>
          </a:p>
        </p:txBody>
      </p:sp>
      <p:sp>
        <p:nvSpPr>
          <p:cNvPr id="36" name="Text 34"/>
          <p:cNvSpPr/>
          <p:nvPr/>
        </p:nvSpPr>
        <p:spPr>
          <a:xfrm>
            <a:off x="6172200" y="3118104"/>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Benign confirmation message</a:t>
            </a:r>
            <a:endParaRPr lang="en-US" sz="1050" dirty="0"/>
          </a:p>
        </p:txBody>
      </p:sp>
      <p:sp>
        <p:nvSpPr>
          <p:cNvPr id="37" name="Text 35"/>
          <p:cNvSpPr/>
          <p:nvPr/>
        </p:nvSpPr>
        <p:spPr>
          <a:xfrm>
            <a:off x="6172200" y="3520440"/>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ℹ️  Class info panel</a:t>
            </a:r>
            <a:endParaRPr lang="en-US" sz="1050" dirty="0"/>
          </a:p>
        </p:txBody>
      </p:sp>
      <p:sp>
        <p:nvSpPr>
          <p:cNvPr id="38" name="Text 36"/>
          <p:cNvSpPr/>
          <p:nvPr/>
        </p:nvSpPr>
        <p:spPr>
          <a:xfrm>
            <a:off x="6172200" y="3922776"/>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Real-time inference</a:t>
            </a:r>
            <a:endParaRPr lang="en-US" sz="1050" dirty="0"/>
          </a:p>
        </p:txBody>
      </p:sp>
      <p:sp>
        <p:nvSpPr>
          <p:cNvPr id="39" name="Text 37"/>
          <p:cNvSpPr/>
          <p:nvPr/>
        </p:nvSpPr>
        <p:spPr>
          <a:xfrm>
            <a:off x="6172200" y="4325112"/>
            <a:ext cx="2606040" cy="36576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Streamlit — runs locally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457200"/>
            <a:ext cx="2743200" cy="2743200"/>
          </a:xfrm>
          <a:prstGeom prst="ellipse">
            <a:avLst/>
          </a:prstGeom>
          <a:solidFill>
            <a:srgbClr val="1B4F72">
              <a:alpha val="40000"/>
            </a:srgbClr>
          </a:solidFill>
          <a:ln w="12700">
            <a:solidFill>
              <a:srgbClr val="1B4F72">
                <a:alpha val="40000"/>
              </a:srgbClr>
            </a:solidFill>
            <a:prstDash val="solid"/>
          </a:ln>
        </p:spPr>
      </p:sp>
      <p:sp>
        <p:nvSpPr>
          <p:cNvPr id="3" name="Shape 1"/>
          <p:cNvSpPr/>
          <p:nvPr/>
        </p:nvSpPr>
        <p:spPr>
          <a:xfrm>
            <a:off x="6858000" y="3200400"/>
            <a:ext cx="2743200" cy="2743200"/>
          </a:xfrm>
          <a:prstGeom prst="ellipse">
            <a:avLst/>
          </a:prstGeom>
          <a:solidFill>
            <a:srgbClr val="21A0A0">
              <a:alpha val="30000"/>
            </a:srgbClr>
          </a:solidFill>
          <a:ln w="12700">
            <a:solidFill>
              <a:srgbClr val="21A0A0">
                <a:alpha val="30000"/>
              </a:srgbClr>
            </a:solidFill>
            <a:prstDash val="solid"/>
          </a:ln>
        </p:spPr>
      </p:sp>
      <p:sp>
        <p:nvSpPr>
          <p:cNvPr id="4" name="Shape 2"/>
          <p:cNvSpPr/>
          <p:nvPr/>
        </p:nvSpPr>
        <p:spPr>
          <a:xfrm>
            <a:off x="0" y="0"/>
            <a:ext cx="320040" cy="5143500"/>
          </a:xfrm>
          <a:prstGeom prst="rect">
            <a:avLst/>
          </a:prstGeom>
          <a:solidFill>
            <a:srgbClr val="21A0A0"/>
          </a:solidFill>
          <a:ln/>
        </p:spPr>
      </p:sp>
      <p:sp>
        <p:nvSpPr>
          <p:cNvPr id="5" name="Text 3"/>
          <p:cNvSpPr/>
          <p:nvPr/>
        </p:nvSpPr>
        <p:spPr>
          <a:xfrm>
            <a:off x="640080" y="274320"/>
            <a:ext cx="7772400" cy="5943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6" name="Shape 4"/>
          <p:cNvSpPr/>
          <p:nvPr/>
        </p:nvSpPr>
        <p:spPr>
          <a:xfrm>
            <a:off x="640080" y="1051560"/>
            <a:ext cx="3749040" cy="1554480"/>
          </a:xfrm>
          <a:prstGeom prst="rect">
            <a:avLst/>
          </a:prstGeom>
          <a:solidFill>
            <a:srgbClr val="FFFFFF">
              <a:alpha val="8000"/>
            </a:srgbClr>
          </a:solidFill>
          <a:ln w="12700">
            <a:solidFill>
              <a:srgbClr val="21A0A0"/>
            </a:solidFill>
            <a:prstDash val="solid"/>
          </a:ln>
        </p:spPr>
      </p:sp>
      <p:sp>
        <p:nvSpPr>
          <p:cNvPr id="7" name="Text 5"/>
          <p:cNvSpPr/>
          <p:nvPr/>
        </p:nvSpPr>
        <p:spPr>
          <a:xfrm>
            <a:off x="640080" y="1124712"/>
            <a:ext cx="594360" cy="1417320"/>
          </a:xfrm>
          <a:prstGeom prst="rect">
            <a:avLst/>
          </a:prstGeom>
          <a:noFill/>
          <a:ln/>
        </p:spPr>
        <p:txBody>
          <a:bodyPr wrap="square" rtlCol="0" anchor="t"/>
          <a:lstStyle/>
          <a:p>
            <a:pPr algn="ctr" indent="0" marL="0">
              <a:buNone/>
            </a:pPr>
            <a:r>
              <a:rPr lang="en-US" sz="2400" dirty="0">
                <a:solidFill>
                  <a:srgbClr val="000000"/>
                </a:solidFill>
              </a:rPr>
              <a:t>🧠</a:t>
            </a:r>
            <a:endParaRPr lang="en-US" sz="2400" dirty="0"/>
          </a:p>
        </p:txBody>
      </p:sp>
      <p:sp>
        <p:nvSpPr>
          <p:cNvPr id="8" name="Text 6"/>
          <p:cNvSpPr/>
          <p:nvPr/>
        </p:nvSpPr>
        <p:spPr>
          <a:xfrm>
            <a:off x="1234440" y="1143000"/>
            <a:ext cx="3063240" cy="347472"/>
          </a:xfrm>
          <a:prstGeom prst="rect">
            <a:avLst/>
          </a:prstGeom>
          <a:noFill/>
          <a:ln/>
        </p:spPr>
        <p:txBody>
          <a:bodyPr wrap="square" lIns="0" tIns="0" rIns="0" bIns="0" rtlCol="0" anchor="ctr"/>
          <a:lstStyle/>
          <a:p>
            <a:pPr indent="0" marL="0">
              <a:buNone/>
            </a:pPr>
            <a:r>
              <a:rPr lang="en-US" sz="1300" b="1" dirty="0">
                <a:solidFill>
                  <a:srgbClr val="21A0A0"/>
                </a:solidFill>
                <a:latin typeface="Calibri" pitchFamily="34" charset="0"/>
                <a:ea typeface="Calibri" pitchFamily="34" charset="-122"/>
                <a:cs typeface="Calibri" pitchFamily="34" charset="-120"/>
              </a:rPr>
              <a:t>Deep Learning Works</a:t>
            </a:r>
            <a:endParaRPr lang="en-US" sz="1300" dirty="0"/>
          </a:p>
        </p:txBody>
      </p:sp>
      <p:sp>
        <p:nvSpPr>
          <p:cNvPr id="9" name="Text 7"/>
          <p:cNvSpPr/>
          <p:nvPr/>
        </p:nvSpPr>
        <p:spPr>
          <a:xfrm>
            <a:off x="1234440" y="1490472"/>
            <a:ext cx="3063240" cy="1005840"/>
          </a:xfrm>
          <a:prstGeom prst="rect">
            <a:avLst/>
          </a:prstGeom>
          <a:noFill/>
          <a:ln/>
        </p:spPr>
        <p:txBody>
          <a:bodyPr wrap="square" rtlCol="0" anchor="ctr"/>
          <a:lstStyle/>
          <a:p>
            <a:pPr indent="0" marL="0">
              <a:buNone/>
            </a:pPr>
            <a:r>
              <a:rPr lang="en-US" sz="1050" dirty="0">
                <a:solidFill>
                  <a:srgbClr val="B8D4E0"/>
                </a:solidFill>
                <a:latin typeface="Calibri" pitchFamily="34" charset="0"/>
                <a:ea typeface="Calibri" pitchFamily="34" charset="-122"/>
                <a:cs typeface="Calibri" pitchFamily="34" charset="-120"/>
              </a:rPr>
              <a:t>Custom 3-block CNN outperforms all classical baselines (LR, RF, KNN) on imbalanced medical image data</a:t>
            </a:r>
            <a:endParaRPr lang="en-US" sz="1050" dirty="0"/>
          </a:p>
        </p:txBody>
      </p:sp>
      <p:sp>
        <p:nvSpPr>
          <p:cNvPr id="10" name="Shape 8"/>
          <p:cNvSpPr/>
          <p:nvPr/>
        </p:nvSpPr>
        <p:spPr>
          <a:xfrm>
            <a:off x="4754880" y="1051560"/>
            <a:ext cx="3749040" cy="1554480"/>
          </a:xfrm>
          <a:prstGeom prst="rect">
            <a:avLst/>
          </a:prstGeom>
          <a:solidFill>
            <a:srgbClr val="FFFFFF">
              <a:alpha val="8000"/>
            </a:srgbClr>
          </a:solidFill>
          <a:ln w="12700">
            <a:solidFill>
              <a:srgbClr val="21A0A0"/>
            </a:solidFill>
            <a:prstDash val="solid"/>
          </a:ln>
        </p:spPr>
      </p:sp>
      <p:sp>
        <p:nvSpPr>
          <p:cNvPr id="11" name="Text 9"/>
          <p:cNvSpPr/>
          <p:nvPr/>
        </p:nvSpPr>
        <p:spPr>
          <a:xfrm>
            <a:off x="4754880" y="1124712"/>
            <a:ext cx="594360" cy="1417320"/>
          </a:xfrm>
          <a:prstGeom prst="rect">
            <a:avLst/>
          </a:prstGeom>
          <a:noFill/>
          <a:ln/>
        </p:spPr>
        <p:txBody>
          <a:bodyPr wrap="square" rtlCol="0" anchor="t"/>
          <a:lstStyle/>
          <a:p>
            <a:pPr algn="ctr" indent="0" marL="0">
              <a:buNone/>
            </a:pPr>
            <a:r>
              <a:rPr lang="en-US" sz="2400" dirty="0">
                <a:solidFill>
                  <a:srgbClr val="000000"/>
                </a:solidFill>
              </a:rPr>
              <a:t>⚖️</a:t>
            </a:r>
            <a:endParaRPr lang="en-US" sz="2400" dirty="0"/>
          </a:p>
        </p:txBody>
      </p:sp>
      <p:sp>
        <p:nvSpPr>
          <p:cNvPr id="12" name="Text 10"/>
          <p:cNvSpPr/>
          <p:nvPr/>
        </p:nvSpPr>
        <p:spPr>
          <a:xfrm>
            <a:off x="5349240" y="1143000"/>
            <a:ext cx="3063240" cy="347472"/>
          </a:xfrm>
          <a:prstGeom prst="rect">
            <a:avLst/>
          </a:prstGeom>
          <a:noFill/>
          <a:ln/>
        </p:spPr>
        <p:txBody>
          <a:bodyPr wrap="square" lIns="0" tIns="0" rIns="0" bIns="0" rtlCol="0" anchor="ctr"/>
          <a:lstStyle/>
          <a:p>
            <a:pPr indent="0" marL="0">
              <a:buNone/>
            </a:pPr>
            <a:r>
              <a:rPr lang="en-US" sz="1300" b="1" dirty="0">
                <a:solidFill>
                  <a:srgbClr val="21A0A0"/>
                </a:solidFill>
                <a:latin typeface="Calibri" pitchFamily="34" charset="0"/>
                <a:ea typeface="Calibri" pitchFamily="34" charset="-122"/>
                <a:cs typeface="Calibri" pitchFamily="34" charset="-120"/>
              </a:rPr>
              <a:t>Imbalance Is Manageable</a:t>
            </a:r>
            <a:endParaRPr lang="en-US" sz="1300" dirty="0"/>
          </a:p>
        </p:txBody>
      </p:sp>
      <p:sp>
        <p:nvSpPr>
          <p:cNvPr id="13" name="Text 11"/>
          <p:cNvSpPr/>
          <p:nvPr/>
        </p:nvSpPr>
        <p:spPr>
          <a:xfrm>
            <a:off x="5349240" y="1490472"/>
            <a:ext cx="3063240" cy="1005840"/>
          </a:xfrm>
          <a:prstGeom prst="rect">
            <a:avLst/>
          </a:prstGeom>
          <a:noFill/>
          <a:ln/>
        </p:spPr>
        <p:txBody>
          <a:bodyPr wrap="square" rtlCol="0" anchor="ctr"/>
          <a:lstStyle/>
          <a:p>
            <a:pPr indent="0" marL="0">
              <a:buNone/>
            </a:pPr>
            <a:r>
              <a:rPr lang="en-US" sz="1050" dirty="0">
                <a:solidFill>
                  <a:srgbClr val="B8D4E0"/>
                </a:solidFill>
                <a:latin typeface="Calibri" pitchFamily="34" charset="0"/>
                <a:ea typeface="Calibri" pitchFamily="34" charset="-122"/>
                <a:cs typeface="Calibri" pitchFamily="34" charset="-120"/>
              </a:rPr>
              <a:t>Stratified splits + class weights + augmentation effectively handle the 58× class imbalance in HAM10000</a:t>
            </a:r>
            <a:endParaRPr lang="en-US" sz="1050" dirty="0"/>
          </a:p>
        </p:txBody>
      </p:sp>
      <p:sp>
        <p:nvSpPr>
          <p:cNvPr id="14" name="Shape 12"/>
          <p:cNvSpPr/>
          <p:nvPr/>
        </p:nvSpPr>
        <p:spPr>
          <a:xfrm>
            <a:off x="640080" y="2880360"/>
            <a:ext cx="3749040" cy="1554480"/>
          </a:xfrm>
          <a:prstGeom prst="rect">
            <a:avLst/>
          </a:prstGeom>
          <a:solidFill>
            <a:srgbClr val="FFFFFF">
              <a:alpha val="8000"/>
            </a:srgbClr>
          </a:solidFill>
          <a:ln w="12700">
            <a:solidFill>
              <a:srgbClr val="21A0A0"/>
            </a:solidFill>
            <a:prstDash val="solid"/>
          </a:ln>
        </p:spPr>
      </p:sp>
      <p:sp>
        <p:nvSpPr>
          <p:cNvPr id="15" name="Text 13"/>
          <p:cNvSpPr/>
          <p:nvPr/>
        </p:nvSpPr>
        <p:spPr>
          <a:xfrm>
            <a:off x="640080" y="2953512"/>
            <a:ext cx="594360" cy="1417320"/>
          </a:xfrm>
          <a:prstGeom prst="rect">
            <a:avLst/>
          </a:prstGeom>
          <a:noFill/>
          <a:ln/>
        </p:spPr>
        <p:txBody>
          <a:bodyPr wrap="square" rtlCol="0" anchor="t"/>
          <a:lstStyle/>
          <a:p>
            <a:pPr algn="ctr" indent="0" marL="0">
              <a:buNone/>
            </a:pPr>
            <a:r>
              <a:rPr lang="en-US" sz="2400" dirty="0">
                <a:solidFill>
                  <a:srgbClr val="000000"/>
                </a:solidFill>
              </a:rPr>
              <a:t>🔥</a:t>
            </a:r>
            <a:endParaRPr lang="en-US" sz="2400" dirty="0"/>
          </a:p>
        </p:txBody>
      </p:sp>
      <p:sp>
        <p:nvSpPr>
          <p:cNvPr id="16" name="Text 14"/>
          <p:cNvSpPr/>
          <p:nvPr/>
        </p:nvSpPr>
        <p:spPr>
          <a:xfrm>
            <a:off x="1234440" y="2971800"/>
            <a:ext cx="3063240" cy="347472"/>
          </a:xfrm>
          <a:prstGeom prst="rect">
            <a:avLst/>
          </a:prstGeom>
          <a:noFill/>
          <a:ln/>
        </p:spPr>
        <p:txBody>
          <a:bodyPr wrap="square" lIns="0" tIns="0" rIns="0" bIns="0" rtlCol="0" anchor="ctr"/>
          <a:lstStyle/>
          <a:p>
            <a:pPr indent="0" marL="0">
              <a:buNone/>
            </a:pPr>
            <a:r>
              <a:rPr lang="en-US" sz="1300" b="1" dirty="0">
                <a:solidFill>
                  <a:srgbClr val="21A0A0"/>
                </a:solidFill>
                <a:latin typeface="Calibri" pitchFamily="34" charset="0"/>
                <a:ea typeface="Calibri" pitchFamily="34" charset="-122"/>
                <a:cs typeface="Calibri" pitchFamily="34" charset="-120"/>
              </a:rPr>
              <a:t>Explainability Matters</a:t>
            </a:r>
            <a:endParaRPr lang="en-US" sz="1300" dirty="0"/>
          </a:p>
        </p:txBody>
      </p:sp>
      <p:sp>
        <p:nvSpPr>
          <p:cNvPr id="17" name="Text 15"/>
          <p:cNvSpPr/>
          <p:nvPr/>
        </p:nvSpPr>
        <p:spPr>
          <a:xfrm>
            <a:off x="1234440" y="3319272"/>
            <a:ext cx="3063240" cy="1005840"/>
          </a:xfrm>
          <a:prstGeom prst="rect">
            <a:avLst/>
          </a:prstGeom>
          <a:noFill/>
          <a:ln/>
        </p:spPr>
        <p:txBody>
          <a:bodyPr wrap="square" rtlCol="0" anchor="ctr"/>
          <a:lstStyle/>
          <a:p>
            <a:pPr indent="0" marL="0">
              <a:buNone/>
            </a:pPr>
            <a:r>
              <a:rPr lang="en-US" sz="1050" dirty="0">
                <a:solidFill>
                  <a:srgbClr val="B8D4E0"/>
                </a:solidFill>
                <a:latin typeface="Calibri" pitchFamily="34" charset="0"/>
                <a:ea typeface="Calibri" pitchFamily="34" charset="-122"/>
                <a:cs typeface="Calibri" pitchFamily="34" charset="-120"/>
              </a:rPr>
              <a:t>Grad-CAM heatmaps validate the model focuses on lesion regions — crucial for clinical trust and acceptance</a:t>
            </a:r>
            <a:endParaRPr lang="en-US" sz="1050" dirty="0"/>
          </a:p>
        </p:txBody>
      </p:sp>
      <p:sp>
        <p:nvSpPr>
          <p:cNvPr id="18" name="Shape 16"/>
          <p:cNvSpPr/>
          <p:nvPr/>
        </p:nvSpPr>
        <p:spPr>
          <a:xfrm>
            <a:off x="4754880" y="2880360"/>
            <a:ext cx="3749040" cy="1554480"/>
          </a:xfrm>
          <a:prstGeom prst="rect">
            <a:avLst/>
          </a:prstGeom>
          <a:solidFill>
            <a:srgbClr val="FFFFFF">
              <a:alpha val="8000"/>
            </a:srgbClr>
          </a:solidFill>
          <a:ln w="12700">
            <a:solidFill>
              <a:srgbClr val="21A0A0"/>
            </a:solidFill>
            <a:prstDash val="solid"/>
          </a:ln>
        </p:spPr>
      </p:sp>
      <p:sp>
        <p:nvSpPr>
          <p:cNvPr id="19" name="Text 17"/>
          <p:cNvSpPr/>
          <p:nvPr/>
        </p:nvSpPr>
        <p:spPr>
          <a:xfrm>
            <a:off x="4754880" y="2953512"/>
            <a:ext cx="594360" cy="1417320"/>
          </a:xfrm>
          <a:prstGeom prst="rect">
            <a:avLst/>
          </a:prstGeom>
          <a:noFill/>
          <a:ln/>
        </p:spPr>
        <p:txBody>
          <a:bodyPr wrap="square" rtlCol="0" anchor="t"/>
          <a:lstStyle/>
          <a:p>
            <a:pPr algn="ctr" indent="0" marL="0">
              <a:buNone/>
            </a:pPr>
            <a:r>
              <a:rPr lang="en-US" sz="2400" dirty="0">
                <a:solidFill>
                  <a:srgbClr val="000000"/>
                </a:solidFill>
              </a:rPr>
              <a:t>🚀</a:t>
            </a:r>
            <a:endParaRPr lang="en-US" sz="2400" dirty="0"/>
          </a:p>
        </p:txBody>
      </p:sp>
      <p:sp>
        <p:nvSpPr>
          <p:cNvPr id="20" name="Text 18"/>
          <p:cNvSpPr/>
          <p:nvPr/>
        </p:nvSpPr>
        <p:spPr>
          <a:xfrm>
            <a:off x="5349240" y="2971800"/>
            <a:ext cx="3063240" cy="347472"/>
          </a:xfrm>
          <a:prstGeom prst="rect">
            <a:avLst/>
          </a:prstGeom>
          <a:noFill/>
          <a:ln/>
        </p:spPr>
        <p:txBody>
          <a:bodyPr wrap="square" lIns="0" tIns="0" rIns="0" bIns="0" rtlCol="0" anchor="ctr"/>
          <a:lstStyle/>
          <a:p>
            <a:pPr indent="0" marL="0">
              <a:buNone/>
            </a:pPr>
            <a:r>
              <a:rPr lang="en-US" sz="1300" b="1" dirty="0">
                <a:solidFill>
                  <a:srgbClr val="21A0A0"/>
                </a:solidFill>
                <a:latin typeface="Calibri" pitchFamily="34" charset="0"/>
                <a:ea typeface="Calibri" pitchFamily="34" charset="-122"/>
                <a:cs typeface="Calibri" pitchFamily="34" charset="-120"/>
              </a:rPr>
              <a:t>Deployment Ready</a:t>
            </a:r>
            <a:endParaRPr lang="en-US" sz="1300" dirty="0"/>
          </a:p>
        </p:txBody>
      </p:sp>
      <p:sp>
        <p:nvSpPr>
          <p:cNvPr id="21" name="Text 19"/>
          <p:cNvSpPr/>
          <p:nvPr/>
        </p:nvSpPr>
        <p:spPr>
          <a:xfrm>
            <a:off x="5349240" y="3319272"/>
            <a:ext cx="3063240" cy="1005840"/>
          </a:xfrm>
          <a:prstGeom prst="rect">
            <a:avLst/>
          </a:prstGeom>
          <a:noFill/>
          <a:ln/>
        </p:spPr>
        <p:txBody>
          <a:bodyPr wrap="square" rtlCol="0" anchor="ctr"/>
          <a:lstStyle/>
          <a:p>
            <a:pPr indent="0" marL="0">
              <a:buNone/>
            </a:pPr>
            <a:r>
              <a:rPr lang="en-US" sz="1050" dirty="0">
                <a:solidFill>
                  <a:srgbClr val="B8D4E0"/>
                </a:solidFill>
                <a:latin typeface="Calibri" pitchFamily="34" charset="0"/>
                <a:ea typeface="Calibri" pitchFamily="34" charset="-122"/>
                <a:cs typeface="Calibri" pitchFamily="34" charset="-120"/>
              </a:rPr>
              <a:t>Streamlit app wraps the full inference pipeline — upload an image, get a prediction and confidence in seconds</a:t>
            </a:r>
            <a:endParaRPr lang="en-US" sz="1050" dirty="0"/>
          </a:p>
        </p:txBody>
      </p:sp>
      <p:sp>
        <p:nvSpPr>
          <p:cNvPr id="22" name="Text 20"/>
          <p:cNvSpPr/>
          <p:nvPr/>
        </p:nvSpPr>
        <p:spPr>
          <a:xfrm>
            <a:off x="640080" y="4754880"/>
            <a:ext cx="7772400" cy="320040"/>
          </a:xfrm>
          <a:prstGeom prst="rect">
            <a:avLst/>
          </a:prstGeom>
          <a:noFill/>
          <a:ln/>
        </p:spPr>
        <p:txBody>
          <a:bodyPr wrap="square" lIns="0" tIns="0" rIns="0" bIns="0" rtlCol="0" anchor="ctr"/>
          <a:lstStyle/>
          <a:p>
            <a:pPr algn="ctr" indent="0" marL="0">
              <a:buNone/>
            </a:pPr>
            <a:r>
              <a:rPr lang="en-US" sz="1100" i="1" dirty="0">
                <a:solidFill>
                  <a:srgbClr val="7A9BB5"/>
                </a:solidFill>
                <a:latin typeface="Calibri" pitchFamily="34" charset="0"/>
                <a:ea typeface="Calibri" pitchFamily="34" charset="-122"/>
                <a:cs typeface="Calibri" pitchFamily="34" charset="-120"/>
              </a:rPr>
              <a:t>Built with TensorFlow · scikit-learn · Streamlit · HAM10000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Skin Cancer Classification System</dc:title>
  <dc:subject>PptxGenJS Presentation</dc:subject>
  <dc:creator>PptxGenJS</dc:creator>
  <cp:lastModifiedBy>PptxGenJS</cp:lastModifiedBy>
  <cp:revision>1</cp:revision>
  <dcterms:created xsi:type="dcterms:W3CDTF">2026-05-10T06:42:31Z</dcterms:created>
  <dcterms:modified xsi:type="dcterms:W3CDTF">2026-05-10T06:42:31Z</dcterms:modified>
</cp:coreProperties>
</file>